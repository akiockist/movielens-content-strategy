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3.svg" ContentType="image/svg+xml"/>
  <Override PartName="/ppt/media/image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65" r:id="rId15"/>
    <p:sldId id="261" r:id="rId11"/>
    <p:sldId id="258" r:id="rId8"/>
    <p:sldId id="259" r:id="rId9"/>
    <p:sldId id="260" r:id="rId10"/>
    <p:sldId id="266" r:id="rId18"/>
    <p:sldId id="263" r:id="rId13"/>
    <p:sldId id="264" r:id="rId14"/>
    <p:sldId id="267" r:id="rId19"/>
    <p:sldId id="268" r:id="rId20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Aptos" charset="1" panose="020B00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3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8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final model version (logit_v1) and the dashboard data refresh time (16/10/2026 20:37) before starting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the four tutor questions directly. Fill in the actual hours and the gap action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one number across the layers, e.g. 76,633 TEST rows: rating_split in MySQL, scored in KNIME, written to rating_predictions, shown on the Model Governance page. Prove integration, do not tour every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live .pbix. Keep the same filter path across pages (model version logit_v1, segment Selective Critics, minimum support 50) so the audience sees one question become one governed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profiles into curation hypotheses. K = 4 was kept for interpretability although K = 5 scored 0.0006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performance questions with quality and applicability together: how well the model ranks covered rows, and how many rows it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Opportunity is a prioritisation signal, not proof that a campaign will cause higher engagement. Support thresholds keep unstable small samples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titles qualify because predicted appeal is high, actual response agrees, support is sufficient and historical popularity is comparatively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reduction as reallocation inside one segment, not a global removal. Randomise eligible users, keep placement and timing equal, compare positive response with confidence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exact command and workflow sequence that rebuilds the outputs instead of saying the repository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in actual hours, the gap and the corrective action. Be explicit about unresolved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on the evidence chain. If asked about business impact, separate model performance from causal campaign 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15.png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4.png"/><Relationship Id="rId9" Type="http://schemas.openxmlformats.org/officeDocument/2006/relationships/image" Target="../media/image16.png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7.png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4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361114" y="639677"/>
            <a:ext cx="9150104" cy="9007647"/>
            <a:chOff x="0" y="0"/>
            <a:chExt cx="4285187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5187" cy="4218472"/>
            </a:xfrm>
            <a:custGeom>
              <a:avLst/>
              <a:gdLst/>
              <a:ahLst/>
              <a:cxnLst/>
              <a:rect r="r" b="b" t="t" l="l"/>
              <a:pathLst>
                <a:path h="4218472" w="4285187">
                  <a:moveTo>
                    <a:pt x="24537" y="0"/>
                  </a:moveTo>
                  <a:lnTo>
                    <a:pt x="4260650" y="0"/>
                  </a:lnTo>
                  <a:cubicBezTo>
                    <a:pt x="4267158" y="0"/>
                    <a:pt x="4273399" y="2585"/>
                    <a:pt x="4278001" y="7187"/>
                  </a:cubicBezTo>
                  <a:cubicBezTo>
                    <a:pt x="4282602" y="11788"/>
                    <a:pt x="4285187" y="18029"/>
                    <a:pt x="4285187" y="24537"/>
                  </a:cubicBezTo>
                  <a:lnTo>
                    <a:pt x="4285187" y="4193935"/>
                  </a:lnTo>
                  <a:cubicBezTo>
                    <a:pt x="4285187" y="4200442"/>
                    <a:pt x="4282602" y="4206683"/>
                    <a:pt x="4278001" y="4211285"/>
                  </a:cubicBezTo>
                  <a:cubicBezTo>
                    <a:pt x="4273399" y="4215886"/>
                    <a:pt x="4267158" y="4218472"/>
                    <a:pt x="4260650" y="4218472"/>
                  </a:cubicBezTo>
                  <a:lnTo>
                    <a:pt x="24537" y="4218472"/>
                  </a:lnTo>
                  <a:cubicBezTo>
                    <a:pt x="18029" y="4218472"/>
                    <a:pt x="11788" y="4215886"/>
                    <a:pt x="7187" y="4211285"/>
                  </a:cubicBezTo>
                  <a:cubicBezTo>
                    <a:pt x="2585" y="4206683"/>
                    <a:pt x="0" y="4200442"/>
                    <a:pt x="0" y="4193935"/>
                  </a:cubicBezTo>
                  <a:lnTo>
                    <a:pt x="0" y="24537"/>
                  </a:lnTo>
                  <a:cubicBezTo>
                    <a:pt x="0" y="18029"/>
                    <a:pt x="2585" y="11788"/>
                    <a:pt x="7187" y="7187"/>
                  </a:cubicBezTo>
                  <a:cubicBezTo>
                    <a:pt x="11788" y="2585"/>
                    <a:pt x="18029" y="0"/>
                    <a:pt x="2453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285187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ct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423933" y="-354349"/>
            <a:ext cx="5935897" cy="5386827"/>
          </a:xfrm>
          <a:custGeom>
            <a:avLst/>
            <a:gdLst/>
            <a:ahLst/>
            <a:cxnLst/>
            <a:rect r="r" b="b" t="t" l="l"/>
            <a:pathLst>
              <a:path h="5386827" w="5935897">
                <a:moveTo>
                  <a:pt x="0" y="0"/>
                </a:moveTo>
                <a:lnTo>
                  <a:pt x="5935897" y="0"/>
                </a:lnTo>
                <a:lnTo>
                  <a:pt x="5935897" y="5386827"/>
                </a:lnTo>
                <a:lnTo>
                  <a:pt x="0" y="5386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30194" y="2125209"/>
            <a:ext cx="5822449" cy="4984805"/>
          </a:xfrm>
          <a:custGeom>
            <a:avLst/>
            <a:gdLst/>
            <a:ahLst/>
            <a:cxnLst/>
            <a:rect r="r" b="b" t="t" l="l"/>
            <a:pathLst>
              <a:path h="4984805" w="5822449">
                <a:moveTo>
                  <a:pt x="0" y="0"/>
                </a:moveTo>
                <a:lnTo>
                  <a:pt x="5822449" y="0"/>
                </a:lnTo>
                <a:lnTo>
                  <a:pt x="5822449" y="4984805"/>
                </a:lnTo>
                <a:lnTo>
                  <a:pt x="0" y="49848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8387" y="834188"/>
            <a:ext cx="793480" cy="300975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6133" y="6443059"/>
            <a:ext cx="793480" cy="300975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21352" y="6028654"/>
            <a:ext cx="5613986" cy="3838563"/>
          </a:xfrm>
          <a:custGeom>
            <a:avLst/>
            <a:gdLst/>
            <a:ahLst/>
            <a:cxnLst/>
            <a:rect r="r" b="b" t="t" l="l"/>
            <a:pathLst>
              <a:path h="3838563" w="5613986">
                <a:moveTo>
                  <a:pt x="0" y="0"/>
                </a:moveTo>
                <a:lnTo>
                  <a:pt x="5613986" y="0"/>
                </a:lnTo>
                <a:lnTo>
                  <a:pt x="5613986" y="3838563"/>
                </a:lnTo>
                <a:lnTo>
                  <a:pt x="0" y="3838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17510760" y="6949440"/>
            <a:ext cx="731520" cy="2075688"/>
          </a:xfrm>
          <a:custGeom>
            <a:avLst/>
            <a:gdLst/>
            <a:ahLst/>
            <a:cxnLst/>
            <a:rect r="r" b="b" t="t" l="l"/>
            <a:pathLst>
              <a:path h="2570569" w="906710">
                <a:moveTo>
                  <a:pt x="0" y="2570570"/>
                </a:moveTo>
                <a:lnTo>
                  <a:pt x="906710" y="2570570"/>
                </a:lnTo>
                <a:lnTo>
                  <a:pt x="906710" y="0"/>
                </a:lnTo>
                <a:lnTo>
                  <a:pt x="0" y="0"/>
                </a:lnTo>
                <a:lnTo>
                  <a:pt x="0" y="257057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Kicker"/>
          <p:cNvSpPr txBox="1"/>
          <p:nvPr/>
        </p:nvSpPr>
        <p:spPr>
          <a:xfrm>
            <a:off x="9144000" y="1325880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C8102E"/>
                </a:solidFill>
                <a:latin typeface="Calibri"/>
              </a:rPr>
              <a:t>BIG DATA ANALYTICS 2026  ·  VNUK  ·  WEEK 4</a:t>
            </a:r>
          </a:p>
        </p:txBody>
      </p:sp>
      <p:sp>
        <p:nvSpPr>
          <p:cNvPr id="16" name="Title"/>
          <p:cNvSpPr txBox="1"/>
          <p:nvPr/>
        </p:nvSpPr>
        <p:spPr>
          <a:xfrm>
            <a:off x="9144000" y="1783080"/>
            <a:ext cx="7086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600" b="0" i="0">
                <a:solidFill>
                  <a:srgbClr val="860606"/>
                </a:solidFill>
                <a:latin typeface="Impact"/>
              </a:rPr>
              <a:t>FINAL DASHBOARD</a:t>
            </a:r>
          </a:p>
          <a:p>
            <a:pPr algn="l">
              <a:lnSpc>
                <a:spcPct val="95000"/>
              </a:lnSpc>
            </a:pPr>
            <a:r>
              <a:rPr sz="6600" b="0" i="0">
                <a:solidFill>
                  <a:srgbClr val="860606"/>
                </a:solidFill>
                <a:latin typeface="Impact"/>
              </a:rPr>
              <a:t>&amp;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206240"/>
            <a:ext cx="7132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F1F1F"/>
                </a:solidFill>
                <a:latin typeface="Calibri"/>
              </a:rPr>
              <a:t>Segment-based movie promotion and content discovery on MovieLens 10M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3492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MySQL  →  KNIME  →  K-Means + Logistic Regression  →  Power BI</a:t>
            </a:r>
          </a:p>
        </p:txBody>
      </p:sp>
      <p:sp>
        <p:nvSpPr>
          <p:cNvPr id="19" name="Team card"/>
          <p:cNvSpPr/>
          <p:nvPr/>
        </p:nvSpPr>
        <p:spPr>
          <a:xfrm>
            <a:off x="11064240" y="6446520"/>
            <a:ext cx="5852160" cy="25146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0" y="662940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spc="200">
                <a:solidFill>
                  <a:srgbClr val="C8102E"/>
                </a:solidFill>
                <a:latin typeface="Calibri"/>
              </a:rPr>
              <a:t>TEAM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F1F1F"/>
                </a:solidFill>
                <a:latin typeface="Calibri"/>
              </a:rPr>
              <a:t>Hồ Anh Tuấn  ·  Trần Ngọc Quân</a:t>
            </a:r>
          </a:p>
          <a:p>
            <a:pPr algn="l">
              <a:spcAft>
                <a:spcPts val="400"/>
              </a:spcAft>
            </a:pPr>
            <a:r>
              <a:rPr sz="1500" b="1" i="0" spc="200">
                <a:solidFill>
                  <a:srgbClr val="C8102E"/>
                </a:solidFill>
                <a:latin typeface="Calibri"/>
              </a:rPr>
              <a:t>LECTURER</a:t>
            </a:r>
          </a:p>
          <a:p>
            <a:pPr algn="l"/>
            <a:r>
              <a:rPr sz="2200" b="1" i="0">
                <a:solidFill>
                  <a:srgbClr val="1F1F1F"/>
                </a:solidFill>
                <a:latin typeface="Calibri"/>
              </a:rPr>
              <a:t>Trần Thế Vũ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497" y="639677"/>
            <a:ext cx="16683005" cy="9007647"/>
            <a:chOff x="0" y="0"/>
            <a:chExt cx="7813004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13004" cy="4218472"/>
            </a:xfrm>
            <a:custGeom>
              <a:avLst/>
              <a:gdLst/>
              <a:ahLst/>
              <a:cxnLst/>
              <a:rect r="r" b="b" t="t" l="l"/>
              <a:pathLst>
                <a:path h="4218472" w="7813004">
                  <a:moveTo>
                    <a:pt x="13458" y="0"/>
                  </a:moveTo>
                  <a:lnTo>
                    <a:pt x="7799546" y="0"/>
                  </a:lnTo>
                  <a:cubicBezTo>
                    <a:pt x="7806979" y="0"/>
                    <a:pt x="7813004" y="6025"/>
                    <a:pt x="7813004" y="13458"/>
                  </a:cubicBezTo>
                  <a:lnTo>
                    <a:pt x="7813004" y="4205014"/>
                  </a:lnTo>
                  <a:cubicBezTo>
                    <a:pt x="7813004" y="4208583"/>
                    <a:pt x="7811587" y="4212006"/>
                    <a:pt x="7809063" y="4214530"/>
                  </a:cubicBezTo>
                  <a:cubicBezTo>
                    <a:pt x="7806539" y="4217054"/>
                    <a:pt x="7803116" y="4218472"/>
                    <a:pt x="7799546" y="4218472"/>
                  </a:cubicBezTo>
                  <a:lnTo>
                    <a:pt x="13458" y="4218472"/>
                  </a:lnTo>
                  <a:cubicBezTo>
                    <a:pt x="6025" y="4218472"/>
                    <a:pt x="0" y="4212446"/>
                    <a:pt x="0" y="4205014"/>
                  </a:cubicBezTo>
                  <a:lnTo>
                    <a:pt x="0" y="13458"/>
                  </a:lnTo>
                  <a:cubicBezTo>
                    <a:pt x="0" y="6025"/>
                    <a:pt x="6025" y="0"/>
                    <a:pt x="134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7813004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ct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188720" y="7589520"/>
            <a:ext cx="3657600" cy="3319272"/>
          </a:xfrm>
          <a:custGeom>
            <a:avLst/>
            <a:gdLst/>
            <a:ahLst/>
            <a:cxnLst/>
            <a:rect r="r" b="b" t="t" l="l"/>
            <a:pathLst>
              <a:path h="5386827" w="5935897">
                <a:moveTo>
                  <a:pt x="0" y="0"/>
                </a:moveTo>
                <a:lnTo>
                  <a:pt x="5935897" y="0"/>
                </a:lnTo>
                <a:lnTo>
                  <a:pt x="5935897" y="5386827"/>
                </a:lnTo>
                <a:lnTo>
                  <a:pt x="0" y="5386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60" y="91440"/>
            <a:ext cx="2743200" cy="2350008"/>
          </a:xfrm>
          <a:custGeom>
            <a:avLst/>
            <a:gdLst/>
            <a:ahLst/>
            <a:cxnLst/>
            <a:rect r="r" b="b" t="t" l="l"/>
            <a:pathLst>
              <a:path h="3936529" w="4598021">
                <a:moveTo>
                  <a:pt x="0" y="0"/>
                </a:moveTo>
                <a:lnTo>
                  <a:pt x="4598022" y="0"/>
                </a:lnTo>
                <a:lnTo>
                  <a:pt x="4598022" y="3936528"/>
                </a:lnTo>
                <a:lnTo>
                  <a:pt x="0" y="3936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9574320" y="196770"/>
            <a:ext cx="906710" cy="2570569"/>
          </a:xfrm>
          <a:custGeom>
            <a:avLst/>
            <a:gdLst/>
            <a:ahLst/>
            <a:cxnLst/>
            <a:rect r="r" b="b" t="t" l="l"/>
            <a:pathLst>
              <a:path h="2570569" w="906710">
                <a:moveTo>
                  <a:pt x="0" y="0"/>
                </a:moveTo>
                <a:lnTo>
                  <a:pt x="906710" y="0"/>
                </a:lnTo>
                <a:lnTo>
                  <a:pt x="906710" y="2570570"/>
                </a:lnTo>
                <a:lnTo>
                  <a:pt x="0" y="2570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8387" y="834188"/>
            <a:ext cx="793480" cy="300975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79040" y="8001000"/>
            <a:ext cx="3108960" cy="2121408"/>
          </a:xfrm>
          <a:custGeom>
            <a:avLst/>
            <a:gdLst/>
            <a:ahLst/>
            <a:cxnLst/>
            <a:rect r="r" b="b" t="t" l="l"/>
            <a:pathLst>
              <a:path h="3674559" w="5374127">
                <a:moveTo>
                  <a:pt x="0" y="0"/>
                </a:moveTo>
                <a:lnTo>
                  <a:pt x="5374127" y="0"/>
                </a:lnTo>
                <a:lnTo>
                  <a:pt x="5374127" y="3674560"/>
                </a:lnTo>
                <a:lnTo>
                  <a:pt x="0" y="3674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id="14" name="Title"/>
          <p:cNvSpPr txBox="1"/>
          <p:nvPr/>
        </p:nvSpPr>
        <p:spPr>
          <a:xfrm>
            <a:off x="4572000" y="868680"/>
            <a:ext cx="115214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0" b="0" i="0">
                <a:solidFill>
                  <a:srgbClr val="860606"/>
                </a:solidFill>
                <a:latin typeface="Impact"/>
              </a:rPr>
              <a:t>WEEK 4 AT A GLANCE</a:t>
            </a:r>
          </a:p>
        </p:txBody>
      </p:sp>
      <p:sp>
        <p:nvSpPr>
          <p:cNvPr id="15" name="Kicker"/>
          <p:cNvSpPr txBox="1"/>
          <p:nvPr/>
        </p:nvSpPr>
        <p:spPr>
          <a:xfrm>
            <a:off x="4572000" y="1965960"/>
            <a:ext cx="11521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 spc="200">
                <a:solidFill>
                  <a:srgbClr val="C8102E"/>
                </a:solidFill>
                <a:latin typeface="Calibri"/>
              </a:rPr>
              <a:t>WHAT  ·  WHEN  ·  WHY  ·  HOW MUCH</a:t>
            </a:r>
          </a:p>
        </p:txBody>
      </p:sp>
      <p:sp>
        <p:nvSpPr>
          <p:cNvPr id="16" name="WHAT card"/>
          <p:cNvSpPr/>
          <p:nvPr/>
        </p:nvSpPr>
        <p:spPr>
          <a:xfrm>
            <a:off x="1371600" y="2743200"/>
            <a:ext cx="3639312" cy="4892040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971800"/>
            <a:ext cx="3136391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0" i="0">
                <a:solidFill>
                  <a:srgbClr val="860606"/>
                </a:solidFill>
                <a:latin typeface="Impact"/>
              </a:rPr>
              <a:t>WHAT</a:t>
            </a:r>
          </a:p>
          <a:p>
            <a:pPr algn="l" marL="292608" indent="-292608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900" b="0" i="0">
                <a:solidFill>
                  <a:srgbClr val="1F1F1F"/>
                </a:solidFill>
                <a:latin typeface="Calibri"/>
              </a:rPr>
              <a:t>End-to-end demo: MySQL → KNIME → MySQL → Power BI</a:t>
            </a:r>
          </a:p>
          <a:p>
            <a:pPr algn="l" marL="292608" indent="-292608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900" b="0" i="0">
                <a:solidFill>
                  <a:srgbClr val="1F1F1F"/>
                </a:solidFill>
                <a:latin typeface="Calibri"/>
              </a:rPr>
              <a:t>5-page interactive dashboard</a:t>
            </a:r>
          </a:p>
          <a:p>
            <a:pPr algn="l" marL="292608" indent="-292608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900" b="0" i="0">
                <a:solidFill>
                  <a:srgbClr val="1F1F1F"/>
                </a:solidFill>
                <a:latin typeface="Calibri"/>
              </a:rPr>
              <a:t>4 evidence-based recommendations</a:t>
            </a:r>
          </a:p>
          <a:p>
            <a:pPr algn="l" marL="292608" indent="-292608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900" b="0" i="0">
                <a:solidFill>
                  <a:srgbClr val="1F1F1F"/>
                </a:solidFill>
                <a:latin typeface="Calibri"/>
              </a:rPr>
              <a:t>IEEE paper + reproducible repository</a:t>
            </a:r>
          </a:p>
        </p:txBody>
      </p:sp>
      <p:sp>
        <p:nvSpPr>
          <p:cNvPr id="18" name="WHEN card"/>
          <p:cNvSpPr/>
          <p:nvPr/>
        </p:nvSpPr>
        <p:spPr>
          <a:xfrm>
            <a:off x="5340096" y="2743200"/>
            <a:ext cx="3639312" cy="4892040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971800"/>
            <a:ext cx="3136391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0" i="0">
                <a:solidFill>
                  <a:srgbClr val="860606"/>
                </a:solidFill>
                <a:latin typeface="Impact"/>
              </a:rPr>
              <a:t>WHEN</a:t>
            </a:r>
          </a:p>
          <a:p>
            <a:pPr algn="l" marL="292608" indent="-292608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900" b="0" i="0">
                <a:solidFill>
                  <a:srgbClr val="1F1F1F"/>
                </a:solidFill>
                <a:latin typeface="Calibri"/>
              </a:rPr>
              <a:t>Model logit_v1 and dashboard data frozen 16/10/2026</a:t>
            </a:r>
          </a:p>
          <a:p>
            <a:pPr algn="l" marL="292608" indent="-292608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900" b="0" i="0">
                <a:solidFill>
                  <a:srgbClr val="1F1F1F"/>
                </a:solidFill>
                <a:latin typeface="Calibri"/>
              </a:rPr>
              <a:t>Live demo and Q&amp;A in the Week 4 session</a:t>
            </a:r>
          </a:p>
          <a:p>
            <a:pPr algn="l" marL="292608" indent="-292608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900" b="0" i="0">
                <a:solidFill>
                  <a:srgbClr val="1F1F1F"/>
                </a:solidFill>
                <a:latin typeface="Calibri"/>
              </a:rPr>
              <a:t>Paper (PDF + DOCX) submitted with the repository</a:t>
            </a:r>
          </a:p>
        </p:txBody>
      </p:sp>
      <p:sp>
        <p:nvSpPr>
          <p:cNvPr id="20" name="WHY card"/>
          <p:cNvSpPr/>
          <p:nvPr/>
        </p:nvSpPr>
        <p:spPr>
          <a:xfrm>
            <a:off x="9308592" y="2743200"/>
            <a:ext cx="3639312" cy="4892040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2971800"/>
            <a:ext cx="3136391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0" i="0">
                <a:solidFill>
                  <a:srgbClr val="860606"/>
                </a:solidFill>
                <a:latin typeface="Impact"/>
              </a:rPr>
              <a:t>WHY</a:t>
            </a:r>
          </a:p>
          <a:p>
            <a:pPr algn="l" marL="292608" indent="-292608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900" b="0" i="0">
                <a:solidFill>
                  <a:srgbClr val="1F1F1F"/>
                </a:solidFill>
                <a:latin typeface="Calibri"/>
              </a:rPr>
              <a:t>The grade needs one traceable chain from raw data to decision</a:t>
            </a:r>
          </a:p>
          <a:p>
            <a:pPr algn="l" marL="292608" indent="-292608">
              <a:spcAft>
                <a:spcPts val="800"/>
              </a:spcAft>
              <a:buClr>
                <a:srgbClr val="C8102E"/>
              </a:buClr>
              <a:buFont typeface="Arial"/>
              <a:buChar char="•"/>
            </a:pPr>
            <a:r>
              <a:rPr sz="1900" b="0" i="0">
                <a:solidFill>
                  <a:srgbClr val="1F1F1F"/>
                </a:solidFill>
                <a:latin typeface="Calibri"/>
              </a:rPr>
              <a:t>Every recommendation is tied to model evidence, support and limits</a:t>
            </a:r>
          </a:p>
        </p:txBody>
      </p:sp>
      <p:sp>
        <p:nvSpPr>
          <p:cNvPr id="22" name="HOW MUCH card"/>
          <p:cNvSpPr/>
          <p:nvPr/>
        </p:nvSpPr>
        <p:spPr>
          <a:xfrm>
            <a:off x="13277088" y="2743200"/>
            <a:ext cx="3639312" cy="4892040"/>
          </a:xfrm>
          <a:prstGeom prst="roundRect">
            <a:avLst>
              <a:gd name="adj" fmla="val 5000"/>
            </a:avLst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51408" y="2971800"/>
            <a:ext cx="3136391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0" i="0">
                <a:solidFill>
                  <a:srgbClr val="FFFFFF"/>
                </a:solidFill>
                <a:latin typeface="Impact"/>
              </a:rPr>
              <a:t>HOW MUCH</a:t>
            </a:r>
          </a:p>
          <a:p>
            <a:pPr algn="l" marL="292608" indent="-29260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900" b="0" i="0">
                <a:solidFill>
                  <a:srgbClr val="FFFFFF"/>
                </a:solidFill>
                <a:latin typeface="Calibri"/>
              </a:rPr>
              <a:t>Planned: 16–20 team hours</a:t>
            </a:r>
          </a:p>
          <a:p>
            <a:pPr algn="l" marL="292608" indent="-29260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900" b="0" i="0">
                <a:solidFill>
                  <a:srgbClr val="FFFFFF"/>
                </a:solidFill>
                <a:latin typeface="Calibri"/>
              </a:rPr>
              <a:t>Actual: ____ hours</a:t>
            </a:r>
          </a:p>
          <a:p>
            <a:pPr algn="l" marL="292608" indent="-29260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900" b="0" i="0">
                <a:solidFill>
                  <a:srgbClr val="FFFFFF"/>
                </a:solidFill>
                <a:latin typeface="Calibri"/>
              </a:rPr>
              <a:t>Gap: ____ hours</a:t>
            </a:r>
          </a:p>
          <a:p>
            <a:pPr algn="l" marL="292608" indent="-292608">
              <a:spcAft>
                <a:spcPts val="800"/>
              </a:spcAft>
              <a:buClr>
                <a:srgbClr val="FFFFFF"/>
              </a:buClr>
              <a:buFont typeface="Arial"/>
              <a:buChar char="•"/>
            </a:pPr>
            <a:r>
              <a:rPr sz="1900" b="0" i="0">
                <a:solidFill>
                  <a:srgbClr val="FFFFFF"/>
                </a:solidFill>
                <a:latin typeface="Calibri"/>
              </a:rPr>
              <a:t>Action on gap: ____________</a:t>
            </a:r>
          </a:p>
        </p:txBody>
      </p:sp>
      <p:sp>
        <p:nvSpPr>
          <p:cNvPr id="24" name="Version chip"/>
          <p:cNvSpPr/>
          <p:nvPr/>
        </p:nvSpPr>
        <p:spPr>
          <a:xfrm>
            <a:off x="3108960" y="8092440"/>
            <a:ext cx="117957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8092440"/>
            <a:ext cx="11795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5B5B5B"/>
                </a:solidFill>
                <a:latin typeface="Calibri"/>
              </a:rPr>
              <a:t>Model version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logit_v1</a:t>
            </a:r>
            <a:r>
              <a:rPr sz="1800" b="0" i="0">
                <a:solidFill>
                  <a:srgbClr val="5B5B5B"/>
                </a:solidFill>
                <a:latin typeface="Calibri"/>
              </a:rPr>
              <a:t>   ·   Last run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16/10/2026 20:37</a:t>
            </a:r>
            <a:r>
              <a:rPr sz="1800" b="0" i="0">
                <a:solidFill>
                  <a:srgbClr val="5B5B5B"/>
                </a:solidFill>
                <a:latin typeface="Calibri"/>
              </a:rPr>
              <a:t>   ·   Split </a:t>
            </a:r>
            <a:r>
              <a:rPr sz="1800" b="1" i="0">
                <a:solidFill>
                  <a:srgbClr val="1F1F1F"/>
                </a:solidFill>
                <a:latin typeface="Calibri"/>
              </a:rPr>
              <a:t>TRAIN 70 / VALID 15 / TEST 15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497" y="639677"/>
            <a:ext cx="16683005" cy="9007647"/>
            <a:chOff x="0" y="0"/>
            <a:chExt cx="7813004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13004" cy="4218472"/>
            </a:xfrm>
            <a:custGeom>
              <a:avLst/>
              <a:gdLst/>
              <a:ahLst/>
              <a:cxnLst/>
              <a:rect r="r" b="b" t="t" l="l"/>
              <a:pathLst>
                <a:path h="4218472" w="7813004">
                  <a:moveTo>
                    <a:pt x="13458" y="0"/>
                  </a:moveTo>
                  <a:lnTo>
                    <a:pt x="7799546" y="0"/>
                  </a:lnTo>
                  <a:cubicBezTo>
                    <a:pt x="7806979" y="0"/>
                    <a:pt x="7813004" y="6025"/>
                    <a:pt x="7813004" y="13458"/>
                  </a:cubicBezTo>
                  <a:lnTo>
                    <a:pt x="7813004" y="4205014"/>
                  </a:lnTo>
                  <a:cubicBezTo>
                    <a:pt x="7813004" y="4208583"/>
                    <a:pt x="7811587" y="4212006"/>
                    <a:pt x="7809063" y="4214530"/>
                  </a:cubicBezTo>
                  <a:cubicBezTo>
                    <a:pt x="7806539" y="4217054"/>
                    <a:pt x="7803116" y="4218472"/>
                    <a:pt x="7799546" y="4218472"/>
                  </a:cubicBezTo>
                  <a:lnTo>
                    <a:pt x="13458" y="4218472"/>
                  </a:lnTo>
                  <a:cubicBezTo>
                    <a:pt x="6025" y="4218472"/>
                    <a:pt x="0" y="4212446"/>
                    <a:pt x="0" y="4205014"/>
                  </a:cubicBezTo>
                  <a:lnTo>
                    <a:pt x="0" y="13458"/>
                  </a:lnTo>
                  <a:cubicBezTo>
                    <a:pt x="0" y="6025"/>
                    <a:pt x="6025" y="0"/>
                    <a:pt x="134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7813004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ct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188720" y="7589520"/>
            <a:ext cx="3657600" cy="3319272"/>
          </a:xfrm>
          <a:custGeom>
            <a:avLst/>
            <a:gdLst/>
            <a:ahLst/>
            <a:cxnLst/>
            <a:rect r="r" b="b" t="t" l="l"/>
            <a:pathLst>
              <a:path h="5386827" w="5935897">
                <a:moveTo>
                  <a:pt x="0" y="0"/>
                </a:moveTo>
                <a:lnTo>
                  <a:pt x="5935897" y="0"/>
                </a:lnTo>
                <a:lnTo>
                  <a:pt x="5935897" y="5386827"/>
                </a:lnTo>
                <a:lnTo>
                  <a:pt x="0" y="5386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60" y="91440"/>
            <a:ext cx="2743200" cy="2350008"/>
          </a:xfrm>
          <a:custGeom>
            <a:avLst/>
            <a:gdLst/>
            <a:ahLst/>
            <a:cxnLst/>
            <a:rect r="r" b="b" t="t" l="l"/>
            <a:pathLst>
              <a:path h="3936529" w="4598021">
                <a:moveTo>
                  <a:pt x="0" y="0"/>
                </a:moveTo>
                <a:lnTo>
                  <a:pt x="4598022" y="0"/>
                </a:lnTo>
                <a:lnTo>
                  <a:pt x="4598022" y="3936528"/>
                </a:lnTo>
                <a:lnTo>
                  <a:pt x="0" y="3936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8387" y="834188"/>
            <a:ext cx="793480" cy="300975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79040" y="8001000"/>
            <a:ext cx="3108960" cy="2121408"/>
          </a:xfrm>
          <a:custGeom>
            <a:avLst/>
            <a:gdLst/>
            <a:ahLst/>
            <a:cxnLst/>
            <a:rect r="r" b="b" t="t" l="l"/>
            <a:pathLst>
              <a:path h="3674559" w="5374127">
                <a:moveTo>
                  <a:pt x="0" y="0"/>
                </a:moveTo>
                <a:lnTo>
                  <a:pt x="5374127" y="0"/>
                </a:lnTo>
                <a:lnTo>
                  <a:pt x="5374127" y="3674560"/>
                </a:lnTo>
                <a:lnTo>
                  <a:pt x="0" y="3674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id="14" name="Title"/>
          <p:cNvSpPr txBox="1"/>
          <p:nvPr/>
        </p:nvSpPr>
        <p:spPr>
          <a:xfrm>
            <a:off x="4572000" y="868680"/>
            <a:ext cx="115214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0" b="0" i="0">
                <a:solidFill>
                  <a:srgbClr val="860606"/>
                </a:solidFill>
                <a:latin typeface="Impact"/>
              </a:rPr>
              <a:t>END-TO-END SYSTEM</a:t>
            </a:r>
          </a:p>
        </p:txBody>
      </p:sp>
      <p:sp>
        <p:nvSpPr>
          <p:cNvPr id="15" name="Kicker"/>
          <p:cNvSpPr txBox="1"/>
          <p:nvPr/>
        </p:nvSpPr>
        <p:spPr>
          <a:xfrm>
            <a:off x="4572000" y="1965960"/>
            <a:ext cx="11521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 spc="200">
                <a:solidFill>
                  <a:srgbClr val="C8102E"/>
                </a:solidFill>
                <a:latin typeface="Calibri"/>
              </a:rPr>
              <a:t>ONE TRACEABLE CHAIN FROM RAW FILES TO DECISIONS</a:t>
            </a:r>
          </a:p>
        </p:txBody>
      </p:sp>
      <p:sp>
        <p:nvSpPr>
          <p:cNvPr id="16" name="Stage 1"/>
          <p:cNvSpPr/>
          <p:nvPr/>
        </p:nvSpPr>
        <p:spPr>
          <a:xfrm>
            <a:off x="1325880" y="2743200"/>
            <a:ext cx="2331720" cy="1097280"/>
          </a:xfrm>
          <a:prstGeom prst="roundRect">
            <a:avLst>
              <a:gd name="adj" fmla="val 12000"/>
            </a:avLst>
          </a:prstGeom>
          <a:solidFill>
            <a:srgbClr val="3A0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743200"/>
            <a:ext cx="2331720" cy="10972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Impact"/>
              </a:rPr>
              <a:t>MOVIELENS 10M</a:t>
            </a:r>
          </a:p>
        </p:txBody>
      </p:sp>
      <p:sp>
        <p:nvSpPr>
          <p:cNvPr id="18" name="Stage 1 detail"/>
          <p:cNvSpPr/>
          <p:nvPr/>
        </p:nvSpPr>
        <p:spPr>
          <a:xfrm>
            <a:off x="1325880" y="3977639"/>
            <a:ext cx="2331720" cy="278892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39" y="4114800"/>
            <a:ext cx="2057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10,000,054 ratings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10,681 movies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95,580 tags</a:t>
            </a:r>
          </a:p>
        </p:txBody>
      </p:sp>
      <p:sp>
        <p:nvSpPr>
          <p:cNvPr id="20" name="Arrow"/>
          <p:cNvSpPr/>
          <p:nvPr/>
        </p:nvSpPr>
        <p:spPr>
          <a:xfrm rot="5400000">
            <a:off x="3712463" y="3127248"/>
            <a:ext cx="329184" cy="192024"/>
          </a:xfrm>
          <a:prstGeom prst="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"/>
          <p:cNvSpPr/>
          <p:nvPr/>
        </p:nvSpPr>
        <p:spPr>
          <a:xfrm>
            <a:off x="3959352" y="2743200"/>
            <a:ext cx="2331720" cy="1097280"/>
          </a:xfrm>
          <a:prstGeom prst="roundRect">
            <a:avLst>
              <a:gd name="adj" fmla="val 12000"/>
            </a:avLst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9352" y="2743200"/>
            <a:ext cx="2331720" cy="10972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Impact"/>
              </a:rPr>
              <a:t>MYSQL</a:t>
            </a:r>
          </a:p>
        </p:txBody>
      </p:sp>
      <p:sp>
        <p:nvSpPr>
          <p:cNvPr id="23" name="Stage 2 detail"/>
          <p:cNvSpPr/>
          <p:nvPr/>
        </p:nvSpPr>
        <p:spPr>
          <a:xfrm>
            <a:off x="3959352" y="3977639"/>
            <a:ext cx="2331720" cy="278892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96512" y="4114800"/>
            <a:ext cx="2057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ratings, movies, tags, movie_genres, rating_split, train_*_stats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Scripts 01–05</a:t>
            </a:r>
          </a:p>
        </p:txBody>
      </p:sp>
      <p:sp>
        <p:nvSpPr>
          <p:cNvPr id="25" name="Arrow"/>
          <p:cNvSpPr/>
          <p:nvPr/>
        </p:nvSpPr>
        <p:spPr>
          <a:xfrm rot="5400000">
            <a:off x="6345936" y="3127248"/>
            <a:ext cx="329184" cy="192024"/>
          </a:xfrm>
          <a:prstGeom prst="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"/>
          <p:cNvSpPr/>
          <p:nvPr/>
        </p:nvSpPr>
        <p:spPr>
          <a:xfrm>
            <a:off x="6592824" y="2743200"/>
            <a:ext cx="2331720" cy="1097280"/>
          </a:xfrm>
          <a:prstGeom prst="roundRect">
            <a:avLst>
              <a:gd name="adj" fmla="val 12000"/>
            </a:avLst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2824" y="2743200"/>
            <a:ext cx="2331720" cy="10972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Impact"/>
              </a:rPr>
              <a:t>KNIME</a:t>
            </a:r>
          </a:p>
        </p:txBody>
      </p:sp>
      <p:sp>
        <p:nvSpPr>
          <p:cNvPr id="28" name="Stage 3 detail"/>
          <p:cNvSpPr/>
          <p:nvPr/>
        </p:nvSpPr>
        <p:spPr>
          <a:xfrm>
            <a:off x="6592824" y="3977639"/>
            <a:ext cx="2331720" cy="278892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4114800"/>
            <a:ext cx="2057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WF0 data quality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K-Means (K = 4)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Logistic Regression</a:t>
            </a:r>
          </a:p>
        </p:txBody>
      </p:sp>
      <p:sp>
        <p:nvSpPr>
          <p:cNvPr id="30" name="Arrow"/>
          <p:cNvSpPr/>
          <p:nvPr/>
        </p:nvSpPr>
        <p:spPr>
          <a:xfrm rot="5400000">
            <a:off x="8979408" y="3127248"/>
            <a:ext cx="329184" cy="192024"/>
          </a:xfrm>
          <a:prstGeom prst="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"/>
          <p:cNvSpPr/>
          <p:nvPr/>
        </p:nvSpPr>
        <p:spPr>
          <a:xfrm>
            <a:off x="9226296" y="2743200"/>
            <a:ext cx="2331720" cy="1097280"/>
          </a:xfrm>
          <a:prstGeom prst="roundRect">
            <a:avLst>
              <a:gd name="adj" fmla="val 12000"/>
            </a:avLst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2743200"/>
            <a:ext cx="2331720" cy="10972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Impact"/>
              </a:rPr>
              <a:t>MYSQL WRITE-BACK</a:t>
            </a:r>
          </a:p>
        </p:txBody>
      </p:sp>
      <p:sp>
        <p:nvSpPr>
          <p:cNvPr id="33" name="Stage 4 detail"/>
          <p:cNvSpPr/>
          <p:nvPr/>
        </p:nvSpPr>
        <p:spPr>
          <a:xfrm>
            <a:off x="9226296" y="3977639"/>
            <a:ext cx="2331720" cy="278892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4114800"/>
            <a:ext cx="2057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user_segments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rating_predictions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model_metrics</a:t>
            </a:r>
          </a:p>
        </p:txBody>
      </p:sp>
      <p:sp>
        <p:nvSpPr>
          <p:cNvPr id="35" name="Arrow"/>
          <p:cNvSpPr/>
          <p:nvPr/>
        </p:nvSpPr>
        <p:spPr>
          <a:xfrm rot="5400000">
            <a:off x="11612880" y="3127248"/>
            <a:ext cx="329184" cy="192024"/>
          </a:xfrm>
          <a:prstGeom prst="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age 5"/>
          <p:cNvSpPr/>
          <p:nvPr/>
        </p:nvSpPr>
        <p:spPr>
          <a:xfrm>
            <a:off x="11859767" y="2743200"/>
            <a:ext cx="2331720" cy="1097280"/>
          </a:xfrm>
          <a:prstGeom prst="roundRect">
            <a:avLst>
              <a:gd name="adj" fmla="val 12000"/>
            </a:avLst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59767" y="2743200"/>
            <a:ext cx="2331720" cy="10972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Impact"/>
              </a:rPr>
              <a:t>POWER BI</a:t>
            </a:r>
          </a:p>
        </p:txBody>
      </p:sp>
      <p:sp>
        <p:nvSpPr>
          <p:cNvPr id="38" name="Stage 5 detail"/>
          <p:cNvSpPr/>
          <p:nvPr/>
        </p:nvSpPr>
        <p:spPr>
          <a:xfrm>
            <a:off x="11859767" y="3977639"/>
            <a:ext cx="2331720" cy="278892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996928" y="4114800"/>
            <a:ext cx="2057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dashboard_* views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5 pages · 4 filters</a:t>
            </a:r>
          </a:p>
        </p:txBody>
      </p:sp>
      <p:sp>
        <p:nvSpPr>
          <p:cNvPr id="40" name="Arrow"/>
          <p:cNvSpPr/>
          <p:nvPr/>
        </p:nvSpPr>
        <p:spPr>
          <a:xfrm rot="5400000">
            <a:off x="14246352" y="3127248"/>
            <a:ext cx="329184" cy="192024"/>
          </a:xfrm>
          <a:prstGeom prst="triangl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tage 6"/>
          <p:cNvSpPr/>
          <p:nvPr/>
        </p:nvSpPr>
        <p:spPr>
          <a:xfrm>
            <a:off x="14493239" y="2743200"/>
            <a:ext cx="2331720" cy="1097280"/>
          </a:xfrm>
          <a:prstGeom prst="roundRect">
            <a:avLst>
              <a:gd name="adj" fmla="val 12000"/>
            </a:avLst>
          </a:prstGeom>
          <a:solidFill>
            <a:srgbClr val="3A0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493239" y="2743200"/>
            <a:ext cx="2331720" cy="10972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Impact"/>
              </a:rPr>
              <a:t>DECISIONS</a:t>
            </a:r>
          </a:p>
        </p:txBody>
      </p:sp>
      <p:sp>
        <p:nvSpPr>
          <p:cNvPr id="43" name="Stage 6 detail"/>
          <p:cNvSpPr/>
          <p:nvPr/>
        </p:nvSpPr>
        <p:spPr>
          <a:xfrm>
            <a:off x="14493239" y="3977639"/>
            <a:ext cx="2331720" cy="278892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399" y="4114800"/>
            <a:ext cx="2057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4 recommendations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A/B test design</a:t>
            </a:r>
          </a:p>
        </p:txBody>
      </p:sp>
      <p:sp>
        <p:nvSpPr>
          <p:cNvPr id="45" name="Rerun card"/>
          <p:cNvSpPr/>
          <p:nvPr/>
        </p:nvSpPr>
        <p:spPr>
          <a:xfrm>
            <a:off x="3108960" y="7086600"/>
            <a:ext cx="117957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7178040"/>
            <a:ext cx="1124712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spc="200">
                <a:solidFill>
                  <a:srgbClr val="C8102E"/>
                </a:solidFill>
                <a:latin typeface="Calibri"/>
              </a:rPr>
              <a:t>RERUN ORDER</a:t>
            </a:r>
          </a:p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Python 01–05  →  KNIME segmentation  →  06 features  →  KNIME logistic regression  →  knime_logit_metrics.sql  →  07 dashboard views  →  Refresh Power BI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497" y="639677"/>
            <a:ext cx="16683005" cy="9007647"/>
            <a:chOff x="0" y="0"/>
            <a:chExt cx="7813004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13004" cy="4218472"/>
            </a:xfrm>
            <a:custGeom>
              <a:avLst/>
              <a:gdLst/>
              <a:ahLst/>
              <a:cxnLst/>
              <a:rect r="r" b="b" t="t" l="l"/>
              <a:pathLst>
                <a:path h="4218472" w="7813004">
                  <a:moveTo>
                    <a:pt x="13458" y="0"/>
                  </a:moveTo>
                  <a:lnTo>
                    <a:pt x="7799546" y="0"/>
                  </a:lnTo>
                  <a:cubicBezTo>
                    <a:pt x="7806979" y="0"/>
                    <a:pt x="7813004" y="6025"/>
                    <a:pt x="7813004" y="13458"/>
                  </a:cubicBezTo>
                  <a:lnTo>
                    <a:pt x="7813004" y="4205014"/>
                  </a:lnTo>
                  <a:cubicBezTo>
                    <a:pt x="7813004" y="4208583"/>
                    <a:pt x="7811587" y="4212006"/>
                    <a:pt x="7809063" y="4214530"/>
                  </a:cubicBezTo>
                  <a:cubicBezTo>
                    <a:pt x="7806539" y="4217054"/>
                    <a:pt x="7803116" y="4218472"/>
                    <a:pt x="7799546" y="4218472"/>
                  </a:cubicBezTo>
                  <a:lnTo>
                    <a:pt x="13458" y="4218472"/>
                  </a:lnTo>
                  <a:cubicBezTo>
                    <a:pt x="6025" y="4218472"/>
                    <a:pt x="0" y="4212446"/>
                    <a:pt x="0" y="4205014"/>
                  </a:cubicBezTo>
                  <a:lnTo>
                    <a:pt x="0" y="13458"/>
                  </a:lnTo>
                  <a:cubicBezTo>
                    <a:pt x="0" y="6025"/>
                    <a:pt x="6025" y="0"/>
                    <a:pt x="134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7813004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ct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188720" y="7589520"/>
            <a:ext cx="3657600" cy="3319272"/>
          </a:xfrm>
          <a:custGeom>
            <a:avLst/>
            <a:gdLst/>
            <a:ahLst/>
            <a:cxnLst/>
            <a:rect r="r" b="b" t="t" l="l"/>
            <a:pathLst>
              <a:path h="5386827" w="5935897">
                <a:moveTo>
                  <a:pt x="0" y="0"/>
                </a:moveTo>
                <a:lnTo>
                  <a:pt x="5935897" y="0"/>
                </a:lnTo>
                <a:lnTo>
                  <a:pt x="5935897" y="5386827"/>
                </a:lnTo>
                <a:lnTo>
                  <a:pt x="0" y="5386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60" y="91440"/>
            <a:ext cx="2743200" cy="2350008"/>
          </a:xfrm>
          <a:custGeom>
            <a:avLst/>
            <a:gdLst/>
            <a:ahLst/>
            <a:cxnLst/>
            <a:rect r="r" b="b" t="t" l="l"/>
            <a:pathLst>
              <a:path h="3936529" w="4598021">
                <a:moveTo>
                  <a:pt x="0" y="0"/>
                </a:moveTo>
                <a:lnTo>
                  <a:pt x="4598022" y="0"/>
                </a:lnTo>
                <a:lnTo>
                  <a:pt x="4598022" y="3936528"/>
                </a:lnTo>
                <a:lnTo>
                  <a:pt x="0" y="3936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8387" y="834188"/>
            <a:ext cx="793480" cy="300975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79040" y="8001000"/>
            <a:ext cx="3108960" cy="2121408"/>
          </a:xfrm>
          <a:custGeom>
            <a:avLst/>
            <a:gdLst/>
            <a:ahLst/>
            <a:cxnLst/>
            <a:rect r="r" b="b" t="t" l="l"/>
            <a:pathLst>
              <a:path h="3674559" w="5374127">
                <a:moveTo>
                  <a:pt x="0" y="0"/>
                </a:moveTo>
                <a:lnTo>
                  <a:pt x="5374127" y="0"/>
                </a:lnTo>
                <a:lnTo>
                  <a:pt x="5374127" y="3674560"/>
                </a:lnTo>
                <a:lnTo>
                  <a:pt x="0" y="3674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id="14" name="Title"/>
          <p:cNvSpPr txBox="1"/>
          <p:nvPr/>
        </p:nvSpPr>
        <p:spPr>
          <a:xfrm>
            <a:off x="4572000" y="868680"/>
            <a:ext cx="115214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0" b="0" i="0">
                <a:solidFill>
                  <a:srgbClr val="860606"/>
                </a:solidFill>
                <a:latin typeface="Impact"/>
              </a:rPr>
              <a:t>FINAL INTERACTIVE DASHBOARD</a:t>
            </a:r>
          </a:p>
        </p:txBody>
      </p:sp>
      <p:sp>
        <p:nvSpPr>
          <p:cNvPr id="15" name="Kicker"/>
          <p:cNvSpPr txBox="1"/>
          <p:nvPr/>
        </p:nvSpPr>
        <p:spPr>
          <a:xfrm>
            <a:off x="4572000" y="1965960"/>
            <a:ext cx="11521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 spc="200">
                <a:solidFill>
                  <a:srgbClr val="C8102E"/>
                </a:solidFill>
                <a:latin typeface="Calibri"/>
              </a:rPr>
              <a:t>POWER BI  ·  5 PAGES  ·  READS MYSQL VIEWS ONLY</a:t>
            </a:r>
          </a:p>
        </p:txBody>
      </p:sp>
      <p:sp>
        <p:nvSpPr>
          <p:cNvPr id="16" name="Frame"/>
          <p:cNvSpPr/>
          <p:nvPr/>
        </p:nvSpPr>
        <p:spPr>
          <a:xfrm>
            <a:off x="1380744" y="2615184"/>
            <a:ext cx="8577072" cy="50889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3040" y="2697480"/>
            <a:ext cx="8412480" cy="4924378"/>
          </a:xfrm>
          <a:prstGeom prst="rect">
            <a:avLst/>
          </a:prstGeom>
        </p:spPr>
      </p:pic>
      <p:sp>
        <p:nvSpPr>
          <p:cNvPr id="18" name="Page 1 badge"/>
          <p:cNvSpPr/>
          <p:nvPr/>
        </p:nvSpPr>
        <p:spPr>
          <a:xfrm>
            <a:off x="10332720" y="2807208"/>
            <a:ext cx="640080" cy="640080"/>
          </a:xfrm>
          <a:prstGeom prst="ellipse">
            <a:avLst/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28072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2715768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Executive Overview</a:t>
            </a:r>
          </a:p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Is there usable evidence?</a:t>
            </a:r>
          </a:p>
        </p:txBody>
      </p:sp>
      <p:sp>
        <p:nvSpPr>
          <p:cNvPr id="21" name="Page 2 badge"/>
          <p:cNvSpPr/>
          <p:nvPr/>
        </p:nvSpPr>
        <p:spPr>
          <a:xfrm>
            <a:off x="10332720" y="3794760"/>
            <a:ext cx="640080" cy="640080"/>
          </a:xfrm>
          <a:prstGeom prst="ellipse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794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860606"/>
                </a:solidFill>
                <a:latin typeface="Impac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3703320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Audience Segments</a:t>
            </a:r>
          </a:p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Who are the four segments?</a:t>
            </a:r>
          </a:p>
        </p:txBody>
      </p:sp>
      <p:sp>
        <p:nvSpPr>
          <p:cNvPr id="24" name="Page 3 badge"/>
          <p:cNvSpPr/>
          <p:nvPr/>
        </p:nvSpPr>
        <p:spPr>
          <a:xfrm>
            <a:off x="10332720" y="4782312"/>
            <a:ext cx="640080" cy="640080"/>
          </a:xfrm>
          <a:prstGeom prst="ellipse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478231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860606"/>
                </a:solidFill>
                <a:latin typeface="Impact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4690872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Positive Engagement Model</a:t>
            </a:r>
          </a:p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How good is the model, and where?</a:t>
            </a:r>
          </a:p>
        </p:txBody>
      </p:sp>
      <p:sp>
        <p:nvSpPr>
          <p:cNvPr id="27" name="Page 4 badge"/>
          <p:cNvSpPr/>
          <p:nvPr/>
        </p:nvSpPr>
        <p:spPr>
          <a:xfrm>
            <a:off x="10332720" y="5769864"/>
            <a:ext cx="640080" cy="640080"/>
          </a:xfrm>
          <a:prstGeom prst="ellipse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576986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860606"/>
                </a:solidFill>
                <a:latin typeface="Impact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5678424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Content Opportunity Matrix</a:t>
            </a:r>
          </a:p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Which titles to promote or test?</a:t>
            </a:r>
          </a:p>
        </p:txBody>
      </p:sp>
      <p:sp>
        <p:nvSpPr>
          <p:cNvPr id="30" name="Page 5 badge"/>
          <p:cNvSpPr/>
          <p:nvPr/>
        </p:nvSpPr>
        <p:spPr>
          <a:xfrm>
            <a:off x="10332720" y="6757416"/>
            <a:ext cx="640080" cy="640080"/>
          </a:xfrm>
          <a:prstGeom prst="ellipse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675741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0">
                <a:solidFill>
                  <a:srgbClr val="860606"/>
                </a:solidFill>
                <a:latin typeface="Impact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665976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Model Governance</a:t>
            </a:r>
          </a:p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When are results safe to use?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781812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B5B5B"/>
                </a:solidFill>
                <a:latin typeface="Calibri"/>
              </a:rPr>
              <a:t>Shown: page 1, Executive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78181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C8102E"/>
                </a:solidFill>
                <a:latin typeface="Calibri"/>
              </a:rPr>
              <a:t>GLOBAL FILTERS</a:t>
            </a:r>
          </a:p>
        </p:txBody>
      </p:sp>
      <p:sp>
        <p:nvSpPr>
          <p:cNvPr id="35" name="Filter chip"/>
          <p:cNvSpPr/>
          <p:nvPr/>
        </p:nvSpPr>
        <p:spPr>
          <a:xfrm>
            <a:off x="10332720" y="8275320"/>
            <a:ext cx="1586484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606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0" y="8275320"/>
            <a:ext cx="1586484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860606"/>
                </a:solidFill>
                <a:latin typeface="Calibri"/>
              </a:rPr>
              <a:t>Model version</a:t>
            </a:r>
          </a:p>
        </p:txBody>
      </p:sp>
      <p:sp>
        <p:nvSpPr>
          <p:cNvPr id="37" name="Filter chip"/>
          <p:cNvSpPr/>
          <p:nvPr/>
        </p:nvSpPr>
        <p:spPr>
          <a:xfrm>
            <a:off x="12056364" y="8275320"/>
            <a:ext cx="955547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606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56364" y="8275320"/>
            <a:ext cx="955547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860606"/>
                </a:solidFill>
                <a:latin typeface="Calibri"/>
              </a:rPr>
              <a:t>Segment</a:t>
            </a:r>
          </a:p>
        </p:txBody>
      </p:sp>
      <p:sp>
        <p:nvSpPr>
          <p:cNvPr id="39" name="Filter chip"/>
          <p:cNvSpPr/>
          <p:nvPr/>
        </p:nvSpPr>
        <p:spPr>
          <a:xfrm>
            <a:off x="13149072" y="8275320"/>
            <a:ext cx="745236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606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149072" y="8275320"/>
            <a:ext cx="745236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860606"/>
                </a:solidFill>
                <a:latin typeface="Calibri"/>
              </a:rPr>
              <a:t>Genre</a:t>
            </a:r>
          </a:p>
        </p:txBody>
      </p:sp>
      <p:sp>
        <p:nvSpPr>
          <p:cNvPr id="41" name="Filter chip"/>
          <p:cNvSpPr/>
          <p:nvPr/>
        </p:nvSpPr>
        <p:spPr>
          <a:xfrm>
            <a:off x="14031468" y="8275320"/>
            <a:ext cx="2007108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606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031468" y="8275320"/>
            <a:ext cx="2007108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860606"/>
                </a:solidFill>
                <a:latin typeface="Calibri"/>
              </a:rPr>
              <a:t>Min. TEST support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497" y="639677"/>
            <a:ext cx="10620526" cy="9007647"/>
            <a:chOff x="0" y="0"/>
            <a:chExt cx="4973817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3817" cy="4218472"/>
            </a:xfrm>
            <a:custGeom>
              <a:avLst/>
              <a:gdLst/>
              <a:ahLst/>
              <a:cxnLst/>
              <a:rect r="r" b="b" t="t" l="l"/>
              <a:pathLst>
                <a:path h="4218472" w="4973817">
                  <a:moveTo>
                    <a:pt x="21140" y="0"/>
                  </a:moveTo>
                  <a:lnTo>
                    <a:pt x="4952678" y="0"/>
                  </a:lnTo>
                  <a:cubicBezTo>
                    <a:pt x="4958284" y="0"/>
                    <a:pt x="4963661" y="2227"/>
                    <a:pt x="4967625" y="6192"/>
                  </a:cubicBezTo>
                  <a:cubicBezTo>
                    <a:pt x="4971590" y="10156"/>
                    <a:pt x="4973817" y="15533"/>
                    <a:pt x="4973817" y="21140"/>
                  </a:cubicBezTo>
                  <a:lnTo>
                    <a:pt x="4973817" y="4197332"/>
                  </a:lnTo>
                  <a:cubicBezTo>
                    <a:pt x="4973817" y="4209007"/>
                    <a:pt x="4964353" y="4218472"/>
                    <a:pt x="4952678" y="4218472"/>
                  </a:cubicBezTo>
                  <a:lnTo>
                    <a:pt x="21140" y="4218472"/>
                  </a:lnTo>
                  <a:cubicBezTo>
                    <a:pt x="9465" y="4218472"/>
                    <a:pt x="0" y="4209007"/>
                    <a:pt x="0" y="4197332"/>
                  </a:cubicBezTo>
                  <a:lnTo>
                    <a:pt x="0" y="21140"/>
                  </a:lnTo>
                  <a:cubicBezTo>
                    <a:pt x="0" y="9465"/>
                    <a:pt x="9465" y="0"/>
                    <a:pt x="211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973817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ct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984480" y="6675120"/>
            <a:ext cx="6035040" cy="5477256"/>
          </a:xfrm>
          <a:custGeom>
            <a:avLst/>
            <a:gdLst/>
            <a:ahLst/>
            <a:cxnLst/>
            <a:rect r="r" b="b" t="t" l="l"/>
            <a:pathLst>
              <a:path h="9248053" w="10190692">
                <a:moveTo>
                  <a:pt x="0" y="0"/>
                </a:moveTo>
                <a:lnTo>
                  <a:pt x="10190692" y="0"/>
                </a:lnTo>
                <a:lnTo>
                  <a:pt x="10190692" y="9248053"/>
                </a:lnTo>
                <a:lnTo>
                  <a:pt x="0" y="9248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5400000">
            <a:off x="9692640" y="201168"/>
            <a:ext cx="905256" cy="2569464"/>
          </a:xfrm>
          <a:custGeom>
            <a:avLst/>
            <a:gdLst/>
            <a:ahLst/>
            <a:cxnLst/>
            <a:rect r="r" b="b" t="t" l="l"/>
            <a:pathLst>
              <a:path h="2570569" w="906710">
                <a:moveTo>
                  <a:pt x="0" y="2570570"/>
                </a:moveTo>
                <a:lnTo>
                  <a:pt x="906710" y="2570570"/>
                </a:lnTo>
                <a:lnTo>
                  <a:pt x="906710" y="0"/>
                </a:lnTo>
                <a:lnTo>
                  <a:pt x="0" y="0"/>
                </a:lnTo>
                <a:lnTo>
                  <a:pt x="0" y="257057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6446520"/>
            <a:ext cx="731520" cy="277063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Title"/>
          <p:cNvSpPr txBox="1"/>
          <p:nvPr/>
        </p:nvSpPr>
        <p:spPr>
          <a:xfrm>
            <a:off x="1463040" y="868680"/>
            <a:ext cx="95097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0" i="0">
                <a:solidFill>
                  <a:srgbClr val="860606"/>
                </a:solidFill>
                <a:latin typeface="Impact"/>
              </a:rPr>
              <a:t>AUDIENCE SEGMENTS</a:t>
            </a:r>
          </a:p>
        </p:txBody>
      </p:sp>
      <p:sp>
        <p:nvSpPr>
          <p:cNvPr id="11" name="Kicker"/>
          <p:cNvSpPr txBox="1"/>
          <p:nvPr/>
        </p:nvSpPr>
        <p:spPr>
          <a:xfrm>
            <a:off x="1463040" y="1965960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C8102E"/>
                </a:solidFill>
                <a:latin typeface="Calibri"/>
              </a:rPr>
              <a:t>K-MEANS  ·  K = 4  ·  54,873 USERS SEGMENTED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9748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860606"/>
                </a:solidFill>
                <a:latin typeface="Calibri"/>
              </a:rPr>
              <a:t>Genre Specialists</a:t>
            </a:r>
          </a:p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17,346 users</a:t>
            </a:r>
          </a:p>
        </p:txBody>
      </p:sp>
      <p:sp>
        <p:nvSpPr>
          <p:cNvPr id="13" name="Rate track"/>
          <p:cNvSpPr/>
          <p:nvPr/>
        </p:nvSpPr>
        <p:spPr>
          <a:xfrm>
            <a:off x="4709160" y="2807208"/>
            <a:ext cx="3840480" cy="41148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ate bar"/>
          <p:cNvSpPr/>
          <p:nvPr/>
        </p:nvSpPr>
        <p:spPr>
          <a:xfrm>
            <a:off x="4709160" y="2807208"/>
            <a:ext cx="2743254" cy="411480"/>
          </a:xfrm>
          <a:prstGeom prst="rect">
            <a:avLst/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6791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860606"/>
                </a:solidFill>
                <a:latin typeface="Impact"/>
              </a:rPr>
              <a:t>71.43%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300984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Largest segment, most positive raters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2336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860606"/>
                </a:solidFill>
                <a:latin typeface="Calibri"/>
              </a:rPr>
              <a:t>Diverse Explorers</a:t>
            </a:r>
          </a:p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12,182 users</a:t>
            </a:r>
          </a:p>
        </p:txBody>
      </p:sp>
      <p:sp>
        <p:nvSpPr>
          <p:cNvPr id="18" name="Rate track"/>
          <p:cNvSpPr/>
          <p:nvPr/>
        </p:nvSpPr>
        <p:spPr>
          <a:xfrm>
            <a:off x="4709160" y="4133088"/>
            <a:ext cx="3840480" cy="41148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ate bar"/>
          <p:cNvSpPr/>
          <p:nvPr/>
        </p:nvSpPr>
        <p:spPr>
          <a:xfrm>
            <a:off x="4709160" y="4133088"/>
            <a:ext cx="1973238" cy="411480"/>
          </a:xfrm>
          <a:prstGeom prst="rect">
            <a:avLst/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400507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860606"/>
                </a:solidFill>
                <a:latin typeface="Impact"/>
              </a:rPr>
              <a:t>51.38%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626864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Relative thriller, action and mystery affinity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4924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860606"/>
                </a:solidFill>
                <a:latin typeface="Calibri"/>
              </a:rPr>
              <a:t>Selective Critics</a:t>
            </a:r>
          </a:p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10,888 users</a:t>
            </a:r>
          </a:p>
        </p:txBody>
      </p:sp>
      <p:sp>
        <p:nvSpPr>
          <p:cNvPr id="23" name="Rate track"/>
          <p:cNvSpPr/>
          <p:nvPr/>
        </p:nvSpPr>
        <p:spPr>
          <a:xfrm>
            <a:off x="4709160" y="5458968"/>
            <a:ext cx="3840480" cy="41148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ate bar"/>
          <p:cNvSpPr/>
          <p:nvPr/>
        </p:nvSpPr>
        <p:spPr>
          <a:xfrm>
            <a:off x="4709160" y="5458968"/>
            <a:ext cx="1954036" cy="411480"/>
          </a:xfrm>
          <a:prstGeom prst="rect">
            <a:avLst/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533095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860606"/>
                </a:solidFill>
                <a:latin typeface="Impact"/>
              </a:rPr>
              <a:t>50.88%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952744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385.3 TRAIN ratings per user: strongest title-level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667512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860606"/>
                </a:solidFill>
                <a:latin typeface="Calibri"/>
              </a:rPr>
              <a:t>Mainstream Enthusiasts</a:t>
            </a:r>
          </a:p>
          <a:p>
            <a:pPr algn="l"/>
            <a:r>
              <a:rPr sz="1700" b="0" i="0">
                <a:solidFill>
                  <a:srgbClr val="5B5B5B"/>
                </a:solidFill>
                <a:latin typeface="Calibri"/>
              </a:rPr>
              <a:t>14,457 users</a:t>
            </a:r>
          </a:p>
        </p:txBody>
      </p:sp>
      <p:sp>
        <p:nvSpPr>
          <p:cNvPr id="28" name="Rate track"/>
          <p:cNvSpPr/>
          <p:nvPr/>
        </p:nvSpPr>
        <p:spPr>
          <a:xfrm>
            <a:off x="4709160" y="6784848"/>
            <a:ext cx="3840480" cy="41148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ate bar"/>
          <p:cNvSpPr/>
          <p:nvPr/>
        </p:nvSpPr>
        <p:spPr>
          <a:xfrm>
            <a:off x="4709160" y="6784848"/>
            <a:ext cx="1615305" cy="411480"/>
          </a:xfrm>
          <a:prstGeom prst="rect">
            <a:avLst/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665683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 i="0">
                <a:solidFill>
                  <a:srgbClr val="860606"/>
                </a:solidFill>
                <a:latin typeface="Impact"/>
              </a:rPr>
              <a:t>42.06%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7278624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Family and animation affinity, lowest positive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23774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5B5B"/>
                </a:solidFill>
                <a:latin typeface="Calibri"/>
              </a:rPr>
              <a:t>Positive-rating rate (rating ≥ 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809244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B5B5B"/>
                </a:solidFill>
                <a:latin typeface="Calibri"/>
              </a:rPr>
              <a:t>Silhouette K = 4: 0.0686 (K = 5: 0.0692). Low separation, so labels are behavioural lenses for curation, not fixed identities.</a:t>
            </a:r>
          </a:p>
        </p:txBody>
      </p:sp>
      <p:sp>
        <p:nvSpPr>
          <p:cNvPr id="34" name="Frame"/>
          <p:cNvSpPr/>
          <p:nvPr/>
        </p:nvSpPr>
        <p:spPr>
          <a:xfrm>
            <a:off x="11804904" y="969263"/>
            <a:ext cx="6016752" cy="35694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2_cr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87200" y="1051560"/>
            <a:ext cx="5852160" cy="340489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887200" y="4593613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Dashboard page 2: Audience Segments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04713" y="639677"/>
            <a:ext cx="10620526" cy="9007647"/>
            <a:chOff x="0" y="0"/>
            <a:chExt cx="4973817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3817" cy="4218472"/>
            </a:xfrm>
            <a:custGeom>
              <a:avLst/>
              <a:gdLst/>
              <a:ahLst/>
              <a:cxnLst/>
              <a:rect r="r" b="b" t="t" l="l"/>
              <a:pathLst>
                <a:path h="4218472" w="4973817">
                  <a:moveTo>
                    <a:pt x="21140" y="0"/>
                  </a:moveTo>
                  <a:lnTo>
                    <a:pt x="4952678" y="0"/>
                  </a:lnTo>
                  <a:cubicBezTo>
                    <a:pt x="4958284" y="0"/>
                    <a:pt x="4963661" y="2227"/>
                    <a:pt x="4967625" y="6192"/>
                  </a:cubicBezTo>
                  <a:cubicBezTo>
                    <a:pt x="4971590" y="10156"/>
                    <a:pt x="4973817" y="15533"/>
                    <a:pt x="4973817" y="21140"/>
                  </a:cubicBezTo>
                  <a:lnTo>
                    <a:pt x="4973817" y="4197332"/>
                  </a:lnTo>
                  <a:cubicBezTo>
                    <a:pt x="4973817" y="4209007"/>
                    <a:pt x="4964353" y="4218472"/>
                    <a:pt x="4952678" y="4218472"/>
                  </a:cubicBezTo>
                  <a:lnTo>
                    <a:pt x="21140" y="4218472"/>
                  </a:lnTo>
                  <a:cubicBezTo>
                    <a:pt x="9465" y="4218472"/>
                    <a:pt x="0" y="4209007"/>
                    <a:pt x="0" y="4197332"/>
                  </a:cubicBezTo>
                  <a:lnTo>
                    <a:pt x="0" y="21140"/>
                  </a:lnTo>
                  <a:cubicBezTo>
                    <a:pt x="0" y="9465"/>
                    <a:pt x="9465" y="0"/>
                    <a:pt x="211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973817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5400000">
            <a:off x="7589520" y="201168"/>
            <a:ext cx="905256" cy="2569464"/>
          </a:xfrm>
          <a:custGeom>
            <a:avLst/>
            <a:gdLst/>
            <a:ahLst/>
            <a:cxnLst/>
            <a:rect r="r" b="b" t="t" l="l"/>
            <a:pathLst>
              <a:path h="2570569" w="906710">
                <a:moveTo>
                  <a:pt x="0" y="0"/>
                </a:moveTo>
                <a:lnTo>
                  <a:pt x="906710" y="0"/>
                </a:lnTo>
                <a:lnTo>
                  <a:pt x="906710" y="2570570"/>
                </a:lnTo>
                <a:lnTo>
                  <a:pt x="0" y="2570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Title"/>
          <p:cNvSpPr txBox="1"/>
          <p:nvPr/>
        </p:nvSpPr>
        <p:spPr>
          <a:xfrm>
            <a:off x="7315200" y="868680"/>
            <a:ext cx="94183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0" b="0" i="0">
                <a:solidFill>
                  <a:srgbClr val="860606"/>
                </a:solidFill>
                <a:latin typeface="Impact"/>
              </a:rPr>
              <a:t>MODEL PERFORMANCE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7315200" y="1965960"/>
            <a:ext cx="9418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 spc="200">
                <a:solidFill>
                  <a:srgbClr val="C8102E"/>
                </a:solidFill>
                <a:latin typeface="Calibri"/>
              </a:rPr>
              <a:t>LOGISTIC REGRESSION  ·  TARGET: RATING ≥ 4.0  ·  TEST SET</a:t>
            </a:r>
          </a:p>
        </p:txBody>
      </p:sp>
      <p:sp>
        <p:nvSpPr>
          <p:cNvPr id="10" name="Frame"/>
          <p:cNvSpPr/>
          <p:nvPr/>
        </p:nvSpPr>
        <p:spPr>
          <a:xfrm>
            <a:off x="557784" y="1380744"/>
            <a:ext cx="5833872" cy="471493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_cr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1463040"/>
            <a:ext cx="5669280" cy="45503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150543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Dashboard page 3: Positive Engagement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629400"/>
            <a:ext cx="56692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spc="200">
                <a:solidFill>
                  <a:srgbClr val="FFFFFF"/>
                </a:solidFill>
                <a:latin typeface="Calibri"/>
              </a:rPr>
              <a:t>STRONGEST SIGNALS</a:t>
            </a:r>
          </a:p>
          <a:p>
            <a:pPr algn="l" marL="292608" indent="-29260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User prior positive rate</a:t>
            </a:r>
          </a:p>
          <a:p>
            <a:pPr algn="l" marL="292608" indent="-292608">
              <a:spcAft>
                <a:spcPts val="4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Movie prior average rating</a:t>
            </a:r>
          </a:p>
          <a:p>
            <a:pPr algn="l" marL="292608" indent="-292608"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Calibri"/>
              </a:rPr>
              <a:t>Movie prior positive rate</a:t>
            </a:r>
          </a:p>
        </p:txBody>
      </p:sp>
      <p:sp>
        <p:nvSpPr>
          <p:cNvPr id="14" name="KPI Accuracy"/>
          <p:cNvSpPr/>
          <p:nvPr/>
        </p:nvSpPr>
        <p:spPr>
          <a:xfrm>
            <a:off x="7498079" y="2606040"/>
            <a:ext cx="2176272" cy="1600200"/>
          </a:xfrm>
          <a:prstGeom prst="roundRect">
            <a:avLst>
              <a:gd name="adj" fmla="val 8000"/>
            </a:avLst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69748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Impact"/>
              </a:rPr>
              <a:t>69.26%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66160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7" name="KPI Majority baseline"/>
          <p:cNvSpPr/>
          <p:nvPr/>
        </p:nvSpPr>
        <p:spPr>
          <a:xfrm>
            <a:off x="9857232" y="2606040"/>
            <a:ext cx="2176272" cy="16002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269748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800" b="0" i="0">
                <a:solidFill>
                  <a:srgbClr val="860606"/>
                </a:solidFill>
                <a:latin typeface="Impact"/>
              </a:rPr>
              <a:t>59.32%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3566160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5B5B5B"/>
                </a:solidFill>
                <a:latin typeface="Calibri"/>
              </a:rPr>
              <a:t>Majority baseline</a:t>
            </a:r>
          </a:p>
        </p:txBody>
      </p:sp>
      <p:sp>
        <p:nvSpPr>
          <p:cNvPr id="20" name="KPI Lift"/>
          <p:cNvSpPr/>
          <p:nvPr/>
        </p:nvSpPr>
        <p:spPr>
          <a:xfrm>
            <a:off x="12216384" y="2606040"/>
            <a:ext cx="2176272" cy="16002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16384" y="269748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800" b="0" i="0">
                <a:solidFill>
                  <a:srgbClr val="860606"/>
                </a:solidFill>
                <a:latin typeface="Impact"/>
              </a:rPr>
              <a:t>+9.93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16384" y="3566160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5B5B5B"/>
                </a:solidFill>
                <a:latin typeface="Calibri"/>
              </a:rPr>
              <a:t>Lift</a:t>
            </a:r>
          </a:p>
        </p:txBody>
      </p:sp>
      <p:sp>
        <p:nvSpPr>
          <p:cNvPr id="23" name="KPI ROC-AUC"/>
          <p:cNvSpPr/>
          <p:nvPr/>
        </p:nvSpPr>
        <p:spPr>
          <a:xfrm>
            <a:off x="14575536" y="2606040"/>
            <a:ext cx="2176272" cy="16002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575536" y="269748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800" b="0" i="0">
                <a:solidFill>
                  <a:srgbClr val="860606"/>
                </a:solidFill>
                <a:latin typeface="Impact"/>
              </a:rPr>
              <a:t>0.758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75536" y="3566160"/>
            <a:ext cx="21762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0">
                <a:solidFill>
                  <a:srgbClr val="5B5B5B"/>
                </a:solidFill>
                <a:latin typeface="Calibri"/>
              </a:rPr>
              <a:t>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4348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C8102E"/>
                </a:solidFill>
                <a:latin typeface="Calibri"/>
              </a:rPr>
              <a:t>CONFUSION MATRIX (TEST)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98079" y="4892040"/>
          <a:ext cx="4572000" cy="1508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1600200"/>
                <a:gridCol w="16002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Predicted 0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Predicted 1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Actual 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31,273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14,189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Actual 1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9,369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21,802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2435840" y="4434840"/>
            <a:ext cx="4389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B5B5B"/>
                </a:solidFill>
                <a:latin typeface="Calibri"/>
              </a:rPr>
              <a:t>Precision  </a:t>
            </a:r>
            <a:r>
              <a:rPr sz="2200" b="1" i="0">
                <a:solidFill>
                  <a:srgbClr val="860606"/>
                </a:solidFill>
                <a:latin typeface="Calibri"/>
              </a:rPr>
              <a:t>60.58%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B5B5B"/>
                </a:solidFill>
                <a:latin typeface="Calibri"/>
              </a:rPr>
              <a:t>Recall  </a:t>
            </a:r>
            <a:r>
              <a:rPr sz="2200" b="1" i="0">
                <a:solidFill>
                  <a:srgbClr val="860606"/>
                </a:solidFill>
                <a:latin typeface="Calibri"/>
              </a:rPr>
              <a:t>69.94%</a:t>
            </a:r>
          </a:p>
          <a:p>
            <a:pPr algn="l"/>
            <a:r>
              <a:rPr sz="1800" b="0" i="0">
                <a:solidFill>
                  <a:srgbClr val="5B5B5B"/>
                </a:solidFill>
                <a:latin typeface="Calibri"/>
              </a:rPr>
              <a:t>F1  </a:t>
            </a:r>
            <a:r>
              <a:rPr sz="2200" b="1" i="0">
                <a:solidFill>
                  <a:srgbClr val="860606"/>
                </a:solidFill>
                <a:latin typeface="Calibri"/>
              </a:rPr>
              <a:t>64.92%</a:t>
            </a:r>
          </a:p>
        </p:txBody>
      </p:sp>
      <p:sp>
        <p:nvSpPr>
          <p:cNvPr id="29" name="Coverage callout"/>
          <p:cNvSpPr/>
          <p:nvPr/>
        </p:nvSpPr>
        <p:spPr>
          <a:xfrm>
            <a:off x="7498079" y="6720840"/>
            <a:ext cx="9326880" cy="2240280"/>
          </a:xfrm>
          <a:prstGeom prst="roundRect">
            <a:avLst>
              <a:gd name="adj" fmla="val 6000"/>
            </a:avLst>
          </a:prstGeom>
          <a:solidFill>
            <a:srgbClr val="3A0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6812280"/>
            <a:ext cx="237744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  <a:latin typeface="Impact"/>
              </a:rPr>
              <a:t>5.11%</a:t>
            </a:r>
          </a:p>
          <a:p>
            <a:pPr algn="ctr"/>
            <a:r>
              <a:rPr sz="1500" b="0" i="0">
                <a:solidFill>
                  <a:srgbClr val="F3C6C6"/>
                </a:solidFill>
                <a:latin typeface="Calibri"/>
              </a:rPr>
              <a:t>TEST coverage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812280"/>
            <a:ext cx="630936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76,633 of 1,500,006 TEST rows are warm start: user and movie both have TRAIN history.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Use as a warm-start decision aid; cold start needs a popularity or editorial fallback.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497" y="698597"/>
            <a:ext cx="10620526" cy="9007647"/>
            <a:chOff x="0" y="0"/>
            <a:chExt cx="4973817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3817" cy="4218472"/>
            </a:xfrm>
            <a:custGeom>
              <a:avLst/>
              <a:gdLst/>
              <a:ahLst/>
              <a:cxnLst/>
              <a:rect r="r" b="b" t="t" l="l"/>
              <a:pathLst>
                <a:path h="4218472" w="4973817">
                  <a:moveTo>
                    <a:pt x="21140" y="0"/>
                  </a:moveTo>
                  <a:lnTo>
                    <a:pt x="4952678" y="0"/>
                  </a:lnTo>
                  <a:cubicBezTo>
                    <a:pt x="4958284" y="0"/>
                    <a:pt x="4963661" y="2227"/>
                    <a:pt x="4967625" y="6192"/>
                  </a:cubicBezTo>
                  <a:cubicBezTo>
                    <a:pt x="4971590" y="10156"/>
                    <a:pt x="4973817" y="15533"/>
                    <a:pt x="4973817" y="21140"/>
                  </a:cubicBezTo>
                  <a:lnTo>
                    <a:pt x="4973817" y="4197332"/>
                  </a:lnTo>
                  <a:cubicBezTo>
                    <a:pt x="4973817" y="4209007"/>
                    <a:pt x="4964353" y="4218472"/>
                    <a:pt x="4952678" y="4218472"/>
                  </a:cubicBezTo>
                  <a:lnTo>
                    <a:pt x="21140" y="4218472"/>
                  </a:lnTo>
                  <a:cubicBezTo>
                    <a:pt x="9465" y="4218472"/>
                    <a:pt x="0" y="4209007"/>
                    <a:pt x="0" y="4197332"/>
                  </a:cubicBezTo>
                  <a:lnTo>
                    <a:pt x="0" y="21140"/>
                  </a:lnTo>
                  <a:cubicBezTo>
                    <a:pt x="0" y="9465"/>
                    <a:pt x="9465" y="0"/>
                    <a:pt x="211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973817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5400000">
            <a:off x="9692640" y="201168"/>
            <a:ext cx="905256" cy="2569464"/>
          </a:xfrm>
          <a:custGeom>
            <a:avLst/>
            <a:gdLst/>
            <a:ahLst/>
            <a:cxnLst/>
            <a:rect r="r" b="b" t="t" l="l"/>
            <a:pathLst>
              <a:path h="2570569" w="906710">
                <a:moveTo>
                  <a:pt x="0" y="2570570"/>
                </a:moveTo>
                <a:lnTo>
                  <a:pt x="906710" y="2570570"/>
                </a:lnTo>
                <a:lnTo>
                  <a:pt x="906710" y="0"/>
                </a:lnTo>
                <a:lnTo>
                  <a:pt x="0" y="0"/>
                </a:lnTo>
                <a:lnTo>
                  <a:pt x="0" y="257057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33120" y="6400800"/>
            <a:ext cx="5120640" cy="3502152"/>
          </a:xfrm>
          <a:custGeom>
            <a:avLst/>
            <a:gdLst/>
            <a:ahLst/>
            <a:cxnLst/>
            <a:rect r="r" b="b" t="t" l="l"/>
            <a:pathLst>
              <a:path h="6328966" w="9256257">
                <a:moveTo>
                  <a:pt x="0" y="0"/>
                </a:moveTo>
                <a:lnTo>
                  <a:pt x="9256257" y="0"/>
                </a:lnTo>
                <a:lnTo>
                  <a:pt x="9256257" y="6328966"/>
                </a:lnTo>
                <a:lnTo>
                  <a:pt x="0" y="63289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id="13" name="Title"/>
          <p:cNvSpPr txBox="1"/>
          <p:nvPr/>
        </p:nvSpPr>
        <p:spPr>
          <a:xfrm>
            <a:off x="1463040" y="868680"/>
            <a:ext cx="95097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0" i="0">
                <a:solidFill>
                  <a:srgbClr val="860606"/>
                </a:solidFill>
                <a:latin typeface="Impact"/>
              </a:rPr>
              <a:t>CONTENT OPPORTUNITIES</a:t>
            </a:r>
          </a:p>
        </p:txBody>
      </p:sp>
      <p:sp>
        <p:nvSpPr>
          <p:cNvPr id="14" name="Kicker"/>
          <p:cNvSpPr txBox="1"/>
          <p:nvPr/>
        </p:nvSpPr>
        <p:spPr>
          <a:xfrm>
            <a:off x="1463040" y="196596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C8102E"/>
                </a:solidFill>
                <a:latin typeface="Calibri"/>
              </a:rPr>
              <a:t>PREDICTED APPEAL  ×  ACTUAL RESPONSE  ×  POPULARITY  × 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14600"/>
            <a:ext cx="9418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Calibri"/>
              </a:rPr>
              <a:t>Only Selective Critics has title-segment pairs with TEST support ≥ 50 (107 pairs). Hidden opportunities: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463040" y="3383280"/>
          <a:ext cx="9418320" cy="25603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00400"/>
                <a:gridCol w="1463040"/>
                <a:gridCol w="1600200"/>
                <a:gridCol w="1600200"/>
                <a:gridCol w="155448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Predicted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TRAIN pop.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Hotel Rwanda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76.72%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77.78%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My Neighbor Totoro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74.87%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74.14%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487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City of God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71.66%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70.00%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968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Oldboy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69.94%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67.31%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Overexposed card"/>
          <p:cNvSpPr/>
          <p:nvPr/>
        </p:nvSpPr>
        <p:spPr>
          <a:xfrm>
            <a:off x="1463040" y="6263640"/>
            <a:ext cx="9418320" cy="2331720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6400800"/>
            <a:ext cx="8961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spc="200">
                <a:solidFill>
                  <a:srgbClr val="C8102E"/>
                </a:solidFill>
                <a:latin typeface="Calibri"/>
              </a:rPr>
              <a:t>OVEREXPOSED FOR THIS SEGMENT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1F1F"/>
                </a:solidFill>
                <a:latin typeface="Calibri"/>
              </a:rPr>
              <a:t>High popularity, low actual positive rate (support &gt; 50):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60606"/>
                </a:solidFill>
                <a:latin typeface="Calibri"/>
              </a:rPr>
              <a:t>Home Alone 17.65%  ·  Star Wars Ep. I 19.61%  ·  Twister 10.17%  ·  The Mask 5.66%</a:t>
            </a:r>
          </a:p>
          <a:p>
            <a:pPr algn="l"/>
            <a:r>
              <a:rPr sz="1600" b="0" i="1">
                <a:solidFill>
                  <a:srgbClr val="5B5B5B"/>
                </a:solidFill>
                <a:latin typeface="Calibri"/>
              </a:rPr>
              <a:t>Diagnostic: The Incredibles predicted 74.45% vs actual 60.75% (107 obs)</a:t>
            </a:r>
          </a:p>
        </p:txBody>
      </p:sp>
      <p:sp>
        <p:nvSpPr>
          <p:cNvPr id="19" name="Frame"/>
          <p:cNvSpPr/>
          <p:nvPr/>
        </p:nvSpPr>
        <p:spPr>
          <a:xfrm>
            <a:off x="11896344" y="969263"/>
            <a:ext cx="5925312" cy="3536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4_cr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8640" y="1051560"/>
            <a:ext cx="5760720" cy="33721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978640" y="4560848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Dashboard page 4: Content Opportunity Matrix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497" y="639677"/>
            <a:ext cx="16683005" cy="9007647"/>
            <a:chOff x="0" y="0"/>
            <a:chExt cx="7813004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13004" cy="4218472"/>
            </a:xfrm>
            <a:custGeom>
              <a:avLst/>
              <a:gdLst/>
              <a:ahLst/>
              <a:cxnLst/>
              <a:rect r="r" b="b" t="t" l="l"/>
              <a:pathLst>
                <a:path h="4218472" w="7813004">
                  <a:moveTo>
                    <a:pt x="13458" y="0"/>
                  </a:moveTo>
                  <a:lnTo>
                    <a:pt x="7799546" y="0"/>
                  </a:lnTo>
                  <a:cubicBezTo>
                    <a:pt x="7806979" y="0"/>
                    <a:pt x="7813004" y="6025"/>
                    <a:pt x="7813004" y="13458"/>
                  </a:cubicBezTo>
                  <a:lnTo>
                    <a:pt x="7813004" y="4205014"/>
                  </a:lnTo>
                  <a:cubicBezTo>
                    <a:pt x="7813004" y="4208583"/>
                    <a:pt x="7811587" y="4212006"/>
                    <a:pt x="7809063" y="4214530"/>
                  </a:cubicBezTo>
                  <a:cubicBezTo>
                    <a:pt x="7806539" y="4217054"/>
                    <a:pt x="7803116" y="4218472"/>
                    <a:pt x="7799546" y="4218472"/>
                  </a:cubicBezTo>
                  <a:lnTo>
                    <a:pt x="13458" y="4218472"/>
                  </a:lnTo>
                  <a:cubicBezTo>
                    <a:pt x="6025" y="4218472"/>
                    <a:pt x="0" y="4212446"/>
                    <a:pt x="0" y="4205014"/>
                  </a:cubicBezTo>
                  <a:lnTo>
                    <a:pt x="0" y="13458"/>
                  </a:lnTo>
                  <a:cubicBezTo>
                    <a:pt x="0" y="6025"/>
                    <a:pt x="6025" y="0"/>
                    <a:pt x="134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7813004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ct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188720" y="7589520"/>
            <a:ext cx="3657600" cy="3319272"/>
          </a:xfrm>
          <a:custGeom>
            <a:avLst/>
            <a:gdLst/>
            <a:ahLst/>
            <a:cxnLst/>
            <a:rect r="r" b="b" t="t" l="l"/>
            <a:pathLst>
              <a:path h="5386827" w="5935897">
                <a:moveTo>
                  <a:pt x="0" y="0"/>
                </a:moveTo>
                <a:lnTo>
                  <a:pt x="5935897" y="0"/>
                </a:lnTo>
                <a:lnTo>
                  <a:pt x="5935897" y="5386827"/>
                </a:lnTo>
                <a:lnTo>
                  <a:pt x="0" y="5386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60" y="91440"/>
            <a:ext cx="2743200" cy="2350008"/>
          </a:xfrm>
          <a:custGeom>
            <a:avLst/>
            <a:gdLst/>
            <a:ahLst/>
            <a:cxnLst/>
            <a:rect r="r" b="b" t="t" l="l"/>
            <a:pathLst>
              <a:path h="3936529" w="4598021">
                <a:moveTo>
                  <a:pt x="0" y="0"/>
                </a:moveTo>
                <a:lnTo>
                  <a:pt x="4598022" y="0"/>
                </a:lnTo>
                <a:lnTo>
                  <a:pt x="4598022" y="3936528"/>
                </a:lnTo>
                <a:lnTo>
                  <a:pt x="0" y="3936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8387" y="834188"/>
            <a:ext cx="793480" cy="300975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79040" y="8001000"/>
            <a:ext cx="3108960" cy="2121408"/>
          </a:xfrm>
          <a:custGeom>
            <a:avLst/>
            <a:gdLst/>
            <a:ahLst/>
            <a:cxnLst/>
            <a:rect r="r" b="b" t="t" l="l"/>
            <a:pathLst>
              <a:path h="3674559" w="5374127">
                <a:moveTo>
                  <a:pt x="0" y="0"/>
                </a:moveTo>
                <a:lnTo>
                  <a:pt x="5374127" y="0"/>
                </a:lnTo>
                <a:lnTo>
                  <a:pt x="5374127" y="3674560"/>
                </a:lnTo>
                <a:lnTo>
                  <a:pt x="0" y="3674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id="14" name="Title"/>
          <p:cNvSpPr txBox="1"/>
          <p:nvPr/>
        </p:nvSpPr>
        <p:spPr>
          <a:xfrm>
            <a:off x="4572000" y="868680"/>
            <a:ext cx="115214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0" b="0" i="0">
                <a:solidFill>
                  <a:srgbClr val="860606"/>
                </a:solidFill>
                <a:latin typeface="Impact"/>
              </a:rPr>
              <a:t>PROMOTE HIDDEN OPPORTUNITIES</a:t>
            </a:r>
          </a:p>
        </p:txBody>
      </p:sp>
      <p:sp>
        <p:nvSpPr>
          <p:cNvPr id="15" name="Kicker"/>
          <p:cNvSpPr txBox="1"/>
          <p:nvPr/>
        </p:nvSpPr>
        <p:spPr>
          <a:xfrm>
            <a:off x="4572000" y="1965960"/>
            <a:ext cx="11521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 spc="200">
                <a:solidFill>
                  <a:srgbClr val="C8102E"/>
                </a:solidFill>
                <a:latin typeface="Calibri"/>
              </a:rPr>
              <a:t>RECOMMENDATIONS 1–2  ·  SELECTIVE CRITICS</a:t>
            </a:r>
          </a:p>
        </p:txBody>
      </p:sp>
      <p:sp>
        <p:nvSpPr>
          <p:cNvPr id="16" name="Recommendation 1"/>
          <p:cNvSpPr/>
          <p:nvPr/>
        </p:nvSpPr>
        <p:spPr>
          <a:xfrm>
            <a:off x="1371600" y="2606040"/>
            <a:ext cx="7635240" cy="466344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 1 badge"/>
          <p:cNvSpPr/>
          <p:nvPr/>
        </p:nvSpPr>
        <p:spPr>
          <a:xfrm>
            <a:off x="1645920" y="2880360"/>
            <a:ext cx="731520" cy="731520"/>
          </a:xfrm>
          <a:prstGeom prst="ellipse">
            <a:avLst/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28803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83464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860606"/>
                </a:solidFill>
                <a:latin typeface="Calibri"/>
              </a:rPr>
              <a:t>Test Hotel Rwanda and My Neighbor Totoro in a discovery row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794760"/>
            <a:ext cx="7086600" cy="3337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Evidence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Hotel Rwanda: support 108, predicted 76.72%, actual 77.78%. Totoro: support 58, 74.87% vs 74.14%.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Impact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More discovery of low-popularity titles (TRAIN 215 and 487 ratings) with aligned predicted and observed appeal.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Assumption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Rating ≥ 4 is a fair proxy for satisfaction; warm-start users only.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Risk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Rating is not viewing; A/B test before any rollout.</a:t>
            </a:r>
          </a:p>
        </p:txBody>
      </p:sp>
      <p:sp>
        <p:nvSpPr>
          <p:cNvPr id="21" name="Recommendation 2"/>
          <p:cNvSpPr/>
          <p:nvPr/>
        </p:nvSpPr>
        <p:spPr>
          <a:xfrm>
            <a:off x="9281160" y="2606040"/>
            <a:ext cx="7635240" cy="466344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 2 badge"/>
          <p:cNvSpPr/>
          <p:nvPr/>
        </p:nvSpPr>
        <p:spPr>
          <a:xfrm>
            <a:off x="9555480" y="2880360"/>
            <a:ext cx="731520" cy="731520"/>
          </a:xfrm>
          <a:prstGeom prst="ellipse">
            <a:avLst/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8803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283464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860606"/>
                </a:solidFill>
                <a:latin typeface="Calibri"/>
              </a:rPr>
              <a:t>Add City of God and Oldboy to the candidate 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794760"/>
            <a:ext cx="7086600" cy="3337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Evidence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City of God: support 60, 71.66% vs 70.00%, popularity 968. Oldboy: support 52, 69.94% vs 67.31%, popularity 72.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Impact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Broadens the slate beyond blockbusters for the most active segment.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Assumption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Segment taste in 2007–2009 TEST still applies.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Risk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Support of 52–60 gives wide intervals; track each title separately.</a:t>
            </a:r>
          </a:p>
        </p:txBody>
      </p:sp>
      <p:sp>
        <p:nvSpPr>
          <p:cNvPr id="26" name="Guardrail chip"/>
          <p:cNvSpPr/>
          <p:nvPr/>
        </p:nvSpPr>
        <p:spPr>
          <a:xfrm>
            <a:off x="3108960" y="7680960"/>
            <a:ext cx="117957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2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7680960"/>
            <a:ext cx="11795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 i="0">
                <a:solidFill>
                  <a:srgbClr val="1F1F1F"/>
                </a:solidFill>
                <a:latin typeface="Calibri"/>
              </a:rPr>
              <a:t>Owner: content strategy + analytics   ·   Measure: positive-rating rate   ·   Guardrails: support ≥ 50, exposure count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04713" y="639677"/>
            <a:ext cx="10620526" cy="9007647"/>
            <a:chOff x="0" y="0"/>
            <a:chExt cx="4973817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3817" cy="4218472"/>
            </a:xfrm>
            <a:custGeom>
              <a:avLst/>
              <a:gdLst/>
              <a:ahLst/>
              <a:cxnLst/>
              <a:rect r="r" b="b" t="t" l="l"/>
              <a:pathLst>
                <a:path h="4218472" w="4973817">
                  <a:moveTo>
                    <a:pt x="21140" y="0"/>
                  </a:moveTo>
                  <a:lnTo>
                    <a:pt x="4952678" y="0"/>
                  </a:lnTo>
                  <a:cubicBezTo>
                    <a:pt x="4958284" y="0"/>
                    <a:pt x="4963661" y="2227"/>
                    <a:pt x="4967625" y="6192"/>
                  </a:cubicBezTo>
                  <a:cubicBezTo>
                    <a:pt x="4971590" y="10156"/>
                    <a:pt x="4973817" y="15533"/>
                    <a:pt x="4973817" y="21140"/>
                  </a:cubicBezTo>
                  <a:lnTo>
                    <a:pt x="4973817" y="4197332"/>
                  </a:lnTo>
                  <a:cubicBezTo>
                    <a:pt x="4973817" y="4209007"/>
                    <a:pt x="4964353" y="4218472"/>
                    <a:pt x="4952678" y="4218472"/>
                  </a:cubicBezTo>
                  <a:lnTo>
                    <a:pt x="21140" y="4218472"/>
                  </a:lnTo>
                  <a:cubicBezTo>
                    <a:pt x="9465" y="4218472"/>
                    <a:pt x="0" y="4209007"/>
                    <a:pt x="0" y="4197332"/>
                  </a:cubicBezTo>
                  <a:lnTo>
                    <a:pt x="0" y="21140"/>
                  </a:lnTo>
                  <a:cubicBezTo>
                    <a:pt x="0" y="9465"/>
                    <a:pt x="9465" y="0"/>
                    <a:pt x="211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973817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5400000">
            <a:off x="7589520" y="201168"/>
            <a:ext cx="905256" cy="2569464"/>
          </a:xfrm>
          <a:custGeom>
            <a:avLst/>
            <a:gdLst/>
            <a:ahLst/>
            <a:cxnLst/>
            <a:rect r="r" b="b" t="t" l="l"/>
            <a:pathLst>
              <a:path h="2570569" w="906710">
                <a:moveTo>
                  <a:pt x="0" y="0"/>
                </a:moveTo>
                <a:lnTo>
                  <a:pt x="906710" y="0"/>
                </a:lnTo>
                <a:lnTo>
                  <a:pt x="906710" y="2570570"/>
                </a:lnTo>
                <a:lnTo>
                  <a:pt x="0" y="2570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74320" y="6035040"/>
            <a:ext cx="4206240" cy="3602736"/>
          </a:xfrm>
          <a:custGeom>
            <a:avLst/>
            <a:gdLst/>
            <a:ahLst/>
            <a:cxnLst/>
            <a:rect r="r" b="b" t="t" l="l"/>
            <a:pathLst>
              <a:path h="6404610" w="7480838">
                <a:moveTo>
                  <a:pt x="0" y="0"/>
                </a:moveTo>
                <a:lnTo>
                  <a:pt x="7480838" y="0"/>
                </a:lnTo>
                <a:lnTo>
                  <a:pt x="7480838" y="6404610"/>
                </a:lnTo>
                <a:lnTo>
                  <a:pt x="0" y="64046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id="12" name="Title"/>
          <p:cNvSpPr txBox="1"/>
          <p:nvPr/>
        </p:nvSpPr>
        <p:spPr>
          <a:xfrm>
            <a:off x="7315200" y="868680"/>
            <a:ext cx="94183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0" b="0" i="0">
                <a:solidFill>
                  <a:srgbClr val="860606"/>
                </a:solidFill>
                <a:latin typeface="Impact"/>
              </a:rPr>
              <a:t>REDUCE, FALL BACK, TEST</a:t>
            </a:r>
          </a:p>
        </p:txBody>
      </p:sp>
      <p:sp>
        <p:nvSpPr>
          <p:cNvPr id="13" name="Kicker"/>
          <p:cNvSpPr txBox="1"/>
          <p:nvPr/>
        </p:nvSpPr>
        <p:spPr>
          <a:xfrm>
            <a:off x="7315200" y="1965960"/>
            <a:ext cx="9418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 spc="200">
                <a:solidFill>
                  <a:srgbClr val="C8102E"/>
                </a:solidFill>
                <a:latin typeface="Calibri"/>
              </a:rPr>
              <a:t>RECOMMENDATIONS 3–4  ·  CONTROLS</a:t>
            </a:r>
          </a:p>
        </p:txBody>
      </p:sp>
      <p:sp>
        <p:nvSpPr>
          <p:cNvPr id="14" name="Recommendation 3"/>
          <p:cNvSpPr/>
          <p:nvPr/>
        </p:nvSpPr>
        <p:spPr>
          <a:xfrm>
            <a:off x="7498079" y="2606040"/>
            <a:ext cx="9326880" cy="292608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 3 badge"/>
          <p:cNvSpPr/>
          <p:nvPr/>
        </p:nvSpPr>
        <p:spPr>
          <a:xfrm>
            <a:off x="7772400" y="2880360"/>
            <a:ext cx="731520" cy="731520"/>
          </a:xfrm>
          <a:prstGeom prst="ellipse">
            <a:avLst/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8803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834640"/>
            <a:ext cx="79095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860606"/>
                </a:solidFill>
                <a:latin typeface="Calibri"/>
              </a:rPr>
              <a:t>Reduce default placement of overexposed titles for Selective Critics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794760"/>
            <a:ext cx="877824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Evidence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Home Alone 17.65%, Star Wars Ep. I 19.61%, Twister 10.17%, The Mask 5.66% actual positive, support &gt; 50.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Risk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Reallocate within one segment only; keep titles in the catalogue.</a:t>
            </a:r>
          </a:p>
        </p:txBody>
      </p:sp>
      <p:sp>
        <p:nvSpPr>
          <p:cNvPr id="19" name="Recommendation 4"/>
          <p:cNvSpPr/>
          <p:nvPr/>
        </p:nvSpPr>
        <p:spPr>
          <a:xfrm>
            <a:off x="7498079" y="5715000"/>
            <a:ext cx="9326880" cy="242316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 4 badge"/>
          <p:cNvSpPr/>
          <p:nvPr/>
        </p:nvSpPr>
        <p:spPr>
          <a:xfrm>
            <a:off x="7772400" y="5989320"/>
            <a:ext cx="731520" cy="731520"/>
          </a:xfrm>
          <a:prstGeom prst="ellipse">
            <a:avLst/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59893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Impac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943600"/>
            <a:ext cx="79095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860606"/>
                </a:solidFill>
                <a:latin typeface="Calibri"/>
              </a:rPr>
              <a:t>Use a popularity or editorial fallback when history is missing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90372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Evidence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Classifier covers 5.11% of TEST; segments cover 54,873 of 69,878 users (78.5%).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C8102E"/>
                </a:solidFill>
                <a:latin typeface="Calibri"/>
              </a:rPr>
              <a:t>Measure  </a:t>
            </a:r>
            <a:r>
              <a:rPr sz="1800" b="0" i="0">
                <a:solidFill>
                  <a:srgbClr val="1F1F1F"/>
                </a:solidFill>
                <a:latin typeface="Calibri"/>
              </a:rPr>
              <a:t>Track coverage as a deployment KPI next to accuracy.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10972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200">
                <a:solidFill>
                  <a:srgbClr val="FFFFFF"/>
                </a:solidFill>
                <a:latin typeface="Calibri"/>
              </a:rPr>
              <a:t>HOW WE TEST BEFORE ROLLOUT</a:t>
            </a:r>
          </a:p>
        </p:txBody>
      </p:sp>
      <p:sp>
        <p:nvSpPr>
          <p:cNvPr id="25" name="Test step 1"/>
          <p:cNvSpPr/>
          <p:nvPr/>
        </p:nvSpPr>
        <p:spPr>
          <a:xfrm>
            <a:off x="548640" y="1691640"/>
            <a:ext cx="576072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16916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860606"/>
                </a:solidFill>
                <a:latin typeface="Impact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69164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Eligible warm-start users</a:t>
            </a:r>
          </a:p>
        </p:txBody>
      </p:sp>
      <p:sp>
        <p:nvSpPr>
          <p:cNvPr id="28" name="Test step 2"/>
          <p:cNvSpPr/>
          <p:nvPr/>
        </p:nvSpPr>
        <p:spPr>
          <a:xfrm>
            <a:off x="548640" y="2715768"/>
            <a:ext cx="576072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15768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860606"/>
                </a:solidFill>
                <a:latin typeface="Impact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2715768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Random assignment A / B</a:t>
            </a:r>
          </a:p>
        </p:txBody>
      </p:sp>
      <p:sp>
        <p:nvSpPr>
          <p:cNvPr id="31" name="Test step 3"/>
          <p:cNvSpPr/>
          <p:nvPr/>
        </p:nvSpPr>
        <p:spPr>
          <a:xfrm>
            <a:off x="548640" y="3739896"/>
            <a:ext cx="576072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39896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860606"/>
                </a:solidFill>
                <a:latin typeface="Impac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739896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Same slot, timing, exposure</a:t>
            </a:r>
          </a:p>
        </p:txBody>
      </p:sp>
      <p:sp>
        <p:nvSpPr>
          <p:cNvPr id="34" name="Test step 4"/>
          <p:cNvSpPr/>
          <p:nvPr/>
        </p:nvSpPr>
        <p:spPr>
          <a:xfrm>
            <a:off x="548640" y="4764024"/>
            <a:ext cx="576072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764024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0">
                <a:solidFill>
                  <a:srgbClr val="860606"/>
                </a:solidFill>
                <a:latin typeface="Impact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764024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Positive-rating rate + 95% 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827532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5B5B5B"/>
                </a:solidFill>
                <a:latin typeface="Calibri"/>
              </a:rPr>
              <a:t>Diagnostic A/B case: The Incredibles, predicted 74.45% vs actual 60.75%. No revenue claims without exposure and commercial data.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497" y="698597"/>
            <a:ext cx="10620526" cy="9007647"/>
            <a:chOff x="0" y="0"/>
            <a:chExt cx="4973817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73817" cy="4218472"/>
            </a:xfrm>
            <a:custGeom>
              <a:avLst/>
              <a:gdLst/>
              <a:ahLst/>
              <a:cxnLst/>
              <a:rect r="r" b="b" t="t" l="l"/>
              <a:pathLst>
                <a:path h="4218472" w="4973817">
                  <a:moveTo>
                    <a:pt x="21140" y="0"/>
                  </a:moveTo>
                  <a:lnTo>
                    <a:pt x="4952678" y="0"/>
                  </a:lnTo>
                  <a:cubicBezTo>
                    <a:pt x="4958284" y="0"/>
                    <a:pt x="4963661" y="2227"/>
                    <a:pt x="4967625" y="6192"/>
                  </a:cubicBezTo>
                  <a:cubicBezTo>
                    <a:pt x="4971590" y="10156"/>
                    <a:pt x="4973817" y="15533"/>
                    <a:pt x="4973817" y="21140"/>
                  </a:cubicBezTo>
                  <a:lnTo>
                    <a:pt x="4973817" y="4197332"/>
                  </a:lnTo>
                  <a:cubicBezTo>
                    <a:pt x="4973817" y="4209007"/>
                    <a:pt x="4964353" y="4218472"/>
                    <a:pt x="4952678" y="4218472"/>
                  </a:cubicBezTo>
                  <a:lnTo>
                    <a:pt x="21140" y="4218472"/>
                  </a:lnTo>
                  <a:cubicBezTo>
                    <a:pt x="9465" y="4218472"/>
                    <a:pt x="0" y="4209007"/>
                    <a:pt x="0" y="4197332"/>
                  </a:cubicBezTo>
                  <a:lnTo>
                    <a:pt x="0" y="21140"/>
                  </a:lnTo>
                  <a:cubicBezTo>
                    <a:pt x="0" y="9465"/>
                    <a:pt x="9465" y="0"/>
                    <a:pt x="211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973817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5400000">
            <a:off x="9692640" y="201168"/>
            <a:ext cx="905256" cy="2569464"/>
          </a:xfrm>
          <a:custGeom>
            <a:avLst/>
            <a:gdLst/>
            <a:ahLst/>
            <a:cxnLst/>
            <a:rect r="r" b="b" t="t" l="l"/>
            <a:pathLst>
              <a:path h="2570569" w="906710">
                <a:moveTo>
                  <a:pt x="0" y="2570570"/>
                </a:moveTo>
                <a:lnTo>
                  <a:pt x="906710" y="2570570"/>
                </a:lnTo>
                <a:lnTo>
                  <a:pt x="906710" y="0"/>
                </a:lnTo>
                <a:lnTo>
                  <a:pt x="0" y="0"/>
                </a:lnTo>
                <a:lnTo>
                  <a:pt x="0" y="257057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50240" y="6309360"/>
            <a:ext cx="5303520" cy="3630168"/>
          </a:xfrm>
          <a:custGeom>
            <a:avLst/>
            <a:gdLst/>
            <a:ahLst/>
            <a:cxnLst/>
            <a:rect r="r" b="b" t="t" l="l"/>
            <a:pathLst>
              <a:path h="6328966" w="9256257">
                <a:moveTo>
                  <a:pt x="0" y="0"/>
                </a:moveTo>
                <a:lnTo>
                  <a:pt x="9256257" y="0"/>
                </a:lnTo>
                <a:lnTo>
                  <a:pt x="9256257" y="6328966"/>
                </a:lnTo>
                <a:lnTo>
                  <a:pt x="0" y="63289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id="13" name="Title"/>
          <p:cNvSpPr txBox="1"/>
          <p:nvPr/>
        </p:nvSpPr>
        <p:spPr>
          <a:xfrm>
            <a:off x="1463040" y="868680"/>
            <a:ext cx="95097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0" b="0" i="0">
                <a:solidFill>
                  <a:srgbClr val="860606"/>
                </a:solidFill>
                <a:latin typeface="Impact"/>
              </a:rPr>
              <a:t>IEEE PAPER &amp; REPOSITORY</a:t>
            </a:r>
          </a:p>
        </p:txBody>
      </p:sp>
      <p:sp>
        <p:nvSpPr>
          <p:cNvPr id="14" name="Kicker"/>
          <p:cNvSpPr txBox="1"/>
          <p:nvPr/>
        </p:nvSpPr>
        <p:spPr>
          <a:xfrm>
            <a:off x="1463040" y="1965960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C8102E"/>
                </a:solidFill>
                <a:latin typeface="Calibri"/>
              </a:rPr>
              <a:t>RESEARCH-STYLE PAPER  ·  REPRODUCIBLE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6032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150">
                <a:solidFill>
                  <a:srgbClr val="C8102E"/>
                </a:solidFill>
                <a:latin typeface="Calibri"/>
              </a:rPr>
              <a:t>PAPER: 6–10 PAGES, TWO-COLUMN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17520"/>
            <a:ext cx="448056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92608" indent="-292608">
              <a:spcAft>
                <a:spcPts val="700"/>
              </a:spcAft>
              <a:buClr>
                <a:srgbClr val="C8102E"/>
              </a:buClr>
              <a:buFont typeface="Arial"/>
              <a:buChar char="✓"/>
            </a:pPr>
            <a:r>
              <a:rPr sz="1800" b="0" i="0">
                <a:solidFill>
                  <a:srgbClr val="1F1F1F"/>
                </a:solidFill>
                <a:latin typeface="Calibri"/>
              </a:rPr>
              <a:t>Abstract &amp; Keywords</a:t>
            </a:r>
          </a:p>
          <a:p>
            <a:pPr algn="l" marL="292608" indent="-292608">
              <a:spcAft>
                <a:spcPts val="700"/>
              </a:spcAft>
              <a:buClr>
                <a:srgbClr val="C8102E"/>
              </a:buClr>
              <a:buFont typeface="Arial"/>
              <a:buChar char="✓"/>
            </a:pPr>
            <a:r>
              <a:rPr sz="1800" b="0" i="0">
                <a:solidFill>
                  <a:srgbClr val="1F1F1F"/>
                </a:solidFill>
                <a:latin typeface="Calibri"/>
              </a:rPr>
              <a:t>Introduction</a:t>
            </a:r>
          </a:p>
          <a:p>
            <a:pPr algn="l" marL="292608" indent="-292608">
              <a:spcAft>
                <a:spcPts val="700"/>
              </a:spcAft>
              <a:buClr>
                <a:srgbClr val="C8102E"/>
              </a:buClr>
              <a:buFont typeface="Arial"/>
              <a:buChar char="✓"/>
            </a:pPr>
            <a:r>
              <a:rPr sz="1800" b="0" i="0">
                <a:solidFill>
                  <a:srgbClr val="1F1F1F"/>
                </a:solidFill>
                <a:latin typeface="Calibri"/>
              </a:rPr>
              <a:t>Related Work</a:t>
            </a:r>
          </a:p>
          <a:p>
            <a:pPr algn="l" marL="292608" indent="-292608">
              <a:spcAft>
                <a:spcPts val="700"/>
              </a:spcAft>
              <a:buClr>
                <a:srgbClr val="C8102E"/>
              </a:buClr>
              <a:buFont typeface="Arial"/>
              <a:buChar char="✓"/>
            </a:pPr>
            <a:r>
              <a:rPr sz="1800" b="0" i="0">
                <a:solidFill>
                  <a:srgbClr val="1F1F1F"/>
                </a:solidFill>
                <a:latin typeface="Calibri"/>
              </a:rPr>
              <a:t>Methodology</a:t>
            </a:r>
          </a:p>
          <a:p>
            <a:pPr algn="l" marL="292608" indent="-292608">
              <a:spcAft>
                <a:spcPts val="700"/>
              </a:spcAft>
              <a:buClr>
                <a:srgbClr val="C8102E"/>
              </a:buClr>
              <a:buFont typeface="Arial"/>
              <a:buChar char="✓"/>
            </a:pPr>
            <a:r>
              <a:rPr sz="1800" b="0" i="0">
                <a:solidFill>
                  <a:srgbClr val="1F1F1F"/>
                </a:solidFill>
                <a:latin typeface="Calibri"/>
              </a:rPr>
              <a:t>Experiments &amp; Results</a:t>
            </a:r>
          </a:p>
          <a:p>
            <a:pPr algn="l" marL="292608" indent="-292608">
              <a:spcAft>
                <a:spcPts val="700"/>
              </a:spcAft>
              <a:buClr>
                <a:srgbClr val="C8102E"/>
              </a:buClr>
              <a:buFont typeface="Arial"/>
              <a:buChar char="✓"/>
            </a:pPr>
            <a:r>
              <a:rPr sz="1800" b="0" i="0">
                <a:solidFill>
                  <a:srgbClr val="1F1F1F"/>
                </a:solidFill>
                <a:latin typeface="Calibri"/>
              </a:rPr>
              <a:t>Discussion &amp; Recommendations</a:t>
            </a:r>
          </a:p>
          <a:p>
            <a:pPr algn="l" marL="292608" indent="-292608">
              <a:spcAft>
                <a:spcPts val="700"/>
              </a:spcAft>
              <a:buClr>
                <a:srgbClr val="C8102E"/>
              </a:buClr>
              <a:buFont typeface="Arial"/>
              <a:buChar char="✓"/>
            </a:pPr>
            <a:r>
              <a:rPr sz="1800" b="0" i="0">
                <a:solidFill>
                  <a:srgbClr val="1F1F1F"/>
                </a:solidFill>
                <a:latin typeface="Calibri"/>
              </a:rPr>
              <a:t>Conclusion</a:t>
            </a:r>
          </a:p>
          <a:p>
            <a:pPr algn="l" marL="292608" indent="-292608">
              <a:spcAft>
                <a:spcPts val="700"/>
              </a:spcAft>
              <a:buClr>
                <a:srgbClr val="C8102E"/>
              </a:buClr>
              <a:buFont typeface="Arial"/>
              <a:buChar char="✓"/>
            </a:pPr>
            <a:r>
              <a:rPr sz="1800" b="0" i="0">
                <a:solidFill>
                  <a:srgbClr val="1F1F1F"/>
                </a:solidFill>
                <a:latin typeface="Calibri"/>
              </a:rPr>
              <a:t>References (≥ 5 sources)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6032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150">
                <a:solidFill>
                  <a:srgbClr val="C8102E"/>
                </a:solidFill>
                <a:latin typeface="Calibri"/>
              </a:rPr>
              <a:t>REPOSITORY</a:t>
            </a:r>
          </a:p>
        </p:txBody>
      </p:sp>
      <p:sp>
        <p:nvSpPr>
          <p:cNvPr id="18" name="Repo tree"/>
          <p:cNvSpPr/>
          <p:nvPr/>
        </p:nvSpPr>
        <p:spPr>
          <a:xfrm>
            <a:off x="6217920" y="3017520"/>
            <a:ext cx="4754880" cy="525780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54680"/>
            <a:ext cx="448056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Courier New"/>
              </a:rPr>
              <a:t>movielens-content-strategy/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├─ sql/  python_sql_scripts/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│   01–07, knime_logit_metrics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├─ knime/  3 workflows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├─ dashboard/  .pbix .pbip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├─ powerbi/  5 page images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├─ output/  report, decks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├─ docs/  data dictionary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1F1F"/>
                </a:solidFill>
                <a:latin typeface="Courier New"/>
              </a:rPr>
              <a:t>└─ README.md  setup + run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8366760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B5B5B"/>
                </a:solidFill>
                <a:latin typeface="Calibri"/>
              </a:rPr>
              <a:t>PDF + editable DOCX  ·  .env ignored, password placeholders only  ·  model version logit_v1 everywhere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78640" y="10972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200">
                <a:solidFill>
                  <a:srgbClr val="FFFFFF"/>
                </a:solidFill>
                <a:latin typeface="Calibri"/>
              </a:rPr>
              <a:t>BEFORE SUBMISSION</a:t>
            </a:r>
          </a:p>
        </p:txBody>
      </p:sp>
      <p:sp>
        <p:nvSpPr>
          <p:cNvPr id="22" name="Check 1"/>
          <p:cNvSpPr/>
          <p:nvPr/>
        </p:nvSpPr>
        <p:spPr>
          <a:xfrm>
            <a:off x="11978640" y="1691640"/>
            <a:ext cx="576072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40" y="16916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60606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0160" y="169164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Fresh dashboard refresh</a:t>
            </a:r>
          </a:p>
        </p:txBody>
      </p:sp>
      <p:sp>
        <p:nvSpPr>
          <p:cNvPr id="25" name="Check 2"/>
          <p:cNvSpPr/>
          <p:nvPr/>
        </p:nvSpPr>
        <p:spPr>
          <a:xfrm>
            <a:off x="11978640" y="2715768"/>
            <a:ext cx="576072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78640" y="2715768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60606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10160" y="2715768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Clean credentials and relative paths</a:t>
            </a:r>
          </a:p>
        </p:txBody>
      </p:sp>
      <p:sp>
        <p:nvSpPr>
          <p:cNvPr id="28" name="Check 3"/>
          <p:cNvSpPr/>
          <p:nvPr/>
        </p:nvSpPr>
        <p:spPr>
          <a:xfrm>
            <a:off x="11978640" y="3739896"/>
            <a:ext cx="576072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78640" y="3739896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60606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10160" y="3739896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Archive demo inputs and outputs</a:t>
            </a:r>
          </a:p>
        </p:txBody>
      </p:sp>
      <p:sp>
        <p:nvSpPr>
          <p:cNvPr id="31" name="Check 4"/>
          <p:cNvSpPr/>
          <p:nvPr/>
        </p:nvSpPr>
        <p:spPr>
          <a:xfrm>
            <a:off x="11978640" y="4764024"/>
            <a:ext cx="576072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978640" y="4764024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860606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10160" y="4764024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Team can explain each part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02497" y="639677"/>
            <a:ext cx="16683005" cy="9007647"/>
            <a:chOff x="0" y="0"/>
            <a:chExt cx="7813004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13004" cy="4218472"/>
            </a:xfrm>
            <a:custGeom>
              <a:avLst/>
              <a:gdLst/>
              <a:ahLst/>
              <a:cxnLst/>
              <a:rect r="r" b="b" t="t" l="l"/>
              <a:pathLst>
                <a:path h="4218472" w="7813004">
                  <a:moveTo>
                    <a:pt x="13458" y="0"/>
                  </a:moveTo>
                  <a:lnTo>
                    <a:pt x="7799546" y="0"/>
                  </a:lnTo>
                  <a:cubicBezTo>
                    <a:pt x="7806979" y="0"/>
                    <a:pt x="7813004" y="6025"/>
                    <a:pt x="7813004" y="13458"/>
                  </a:cubicBezTo>
                  <a:lnTo>
                    <a:pt x="7813004" y="4205014"/>
                  </a:lnTo>
                  <a:cubicBezTo>
                    <a:pt x="7813004" y="4208583"/>
                    <a:pt x="7811587" y="4212006"/>
                    <a:pt x="7809063" y="4214530"/>
                  </a:cubicBezTo>
                  <a:cubicBezTo>
                    <a:pt x="7806539" y="4217054"/>
                    <a:pt x="7803116" y="4218472"/>
                    <a:pt x="7799546" y="4218472"/>
                  </a:cubicBezTo>
                  <a:lnTo>
                    <a:pt x="13458" y="4218472"/>
                  </a:lnTo>
                  <a:cubicBezTo>
                    <a:pt x="6025" y="4218472"/>
                    <a:pt x="0" y="4212446"/>
                    <a:pt x="0" y="4205014"/>
                  </a:cubicBezTo>
                  <a:lnTo>
                    <a:pt x="0" y="13458"/>
                  </a:lnTo>
                  <a:cubicBezTo>
                    <a:pt x="0" y="6025"/>
                    <a:pt x="6025" y="0"/>
                    <a:pt x="134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7813004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ct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1188720" y="7589520"/>
            <a:ext cx="3657600" cy="3319272"/>
          </a:xfrm>
          <a:custGeom>
            <a:avLst/>
            <a:gdLst/>
            <a:ahLst/>
            <a:cxnLst/>
            <a:rect r="r" b="b" t="t" l="l"/>
            <a:pathLst>
              <a:path h="5386827" w="5935897">
                <a:moveTo>
                  <a:pt x="0" y="0"/>
                </a:moveTo>
                <a:lnTo>
                  <a:pt x="5935897" y="0"/>
                </a:lnTo>
                <a:lnTo>
                  <a:pt x="5935897" y="5386827"/>
                </a:lnTo>
                <a:lnTo>
                  <a:pt x="0" y="5386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60" y="91440"/>
            <a:ext cx="2743200" cy="2350008"/>
          </a:xfrm>
          <a:custGeom>
            <a:avLst/>
            <a:gdLst/>
            <a:ahLst/>
            <a:cxnLst/>
            <a:rect r="r" b="b" t="t" l="l"/>
            <a:pathLst>
              <a:path h="3936529" w="4598021">
                <a:moveTo>
                  <a:pt x="0" y="0"/>
                </a:moveTo>
                <a:lnTo>
                  <a:pt x="4598022" y="0"/>
                </a:lnTo>
                <a:lnTo>
                  <a:pt x="4598022" y="3936528"/>
                </a:lnTo>
                <a:lnTo>
                  <a:pt x="0" y="3936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8387" y="834188"/>
            <a:ext cx="793480" cy="300975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79040" y="8001000"/>
            <a:ext cx="3108960" cy="2121408"/>
          </a:xfrm>
          <a:custGeom>
            <a:avLst/>
            <a:gdLst/>
            <a:ahLst/>
            <a:cxnLst/>
            <a:rect r="r" b="b" t="t" l="l"/>
            <a:pathLst>
              <a:path h="3674559" w="5374127">
                <a:moveTo>
                  <a:pt x="0" y="0"/>
                </a:moveTo>
                <a:lnTo>
                  <a:pt x="5374127" y="0"/>
                </a:lnTo>
                <a:lnTo>
                  <a:pt x="5374127" y="3674560"/>
                </a:lnTo>
                <a:lnTo>
                  <a:pt x="0" y="3674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id="14" name="Title"/>
          <p:cNvSpPr txBox="1"/>
          <p:nvPr/>
        </p:nvSpPr>
        <p:spPr>
          <a:xfrm>
            <a:off x="4572000" y="868680"/>
            <a:ext cx="115214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0" b="0" i="0">
                <a:solidFill>
                  <a:srgbClr val="860606"/>
                </a:solidFill>
                <a:latin typeface="Impact"/>
              </a:rPr>
              <a:t>PLAN VS ACTUAL</a:t>
            </a:r>
          </a:p>
        </p:txBody>
      </p:sp>
      <p:sp>
        <p:nvSpPr>
          <p:cNvPr id="15" name="Kicker"/>
          <p:cNvSpPr txBox="1"/>
          <p:nvPr/>
        </p:nvSpPr>
        <p:spPr>
          <a:xfrm>
            <a:off x="4572000" y="1965960"/>
            <a:ext cx="11521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 spc="200">
                <a:solidFill>
                  <a:srgbClr val="C8102E"/>
                </a:solidFill>
                <a:latin typeface="Calibri"/>
              </a:rPr>
              <a:t>REFLECTION  ·  LIMITS  ·  NEXT STEPS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2743200"/>
          <a:ext cx="8778240" cy="46085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72000"/>
                <a:gridCol w="1920240"/>
                <a:gridCol w="228600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91440" marR="91440" marT="27432" marB="27432" anchor="ctr">
                    <a:solidFill>
                      <a:srgbClr val="860606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MySQL schema + scripts 01–07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Week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KNIME quality, K-Means, LR, write-back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Week 3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Power BI, 5 pages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Week 3–4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IEEE paper, PDF + DOCX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Week 4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____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README with run order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Week 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____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Team hours (Week 4)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16–20 h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____ h</a:t>
                      </a:r>
                    </a:p>
                  </a:txBody>
                  <a:tcPr marL="91440" marR="91440" marT="27432" marB="27432" anchor="ctr">
                    <a:solidFill>
                      <a:srgbClr val="FBECEC"/>
                    </a:solidFill>
                    <a:lnL w="9525">
                      <a:solidFill>
                        <a:srgbClr val="E2C6C6"/>
                      </a:solidFill>
                    </a:lnL>
                    <a:lnR w="9525">
                      <a:solidFill>
                        <a:srgbClr val="E2C6C6"/>
                      </a:solidFill>
                    </a:lnR>
                    <a:lnT w="9525">
                      <a:solidFill>
                        <a:srgbClr val="E2C6C6"/>
                      </a:solidFill>
                    </a:lnT>
                    <a:lnB w="9525">
                      <a:solidFill>
                        <a:srgbClr val="E2C6C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926080" y="76352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860606"/>
                </a:solidFill>
                <a:latin typeface="Calibri"/>
              </a:rPr>
              <a:t>Gap ____ h  ·  Corrective action: ________________________</a:t>
            </a:r>
          </a:p>
        </p:txBody>
      </p:sp>
      <p:sp>
        <p:nvSpPr>
          <p:cNvPr id="18" name="WHAT WORKED"/>
          <p:cNvSpPr/>
          <p:nvPr/>
        </p:nvSpPr>
        <p:spPr>
          <a:xfrm>
            <a:off x="10515600" y="2743200"/>
            <a:ext cx="6400800" cy="155448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283464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spc="200">
                <a:solidFill>
                  <a:srgbClr val="C8102E"/>
                </a:solidFill>
                <a:latin typeface="Calibri"/>
              </a:rPr>
              <a:t>WHAT WORKED</a:t>
            </a:r>
          </a:p>
          <a:p>
            <a:pPr algn="l"/>
            <a:r>
              <a:rPr sz="1700" b="0" i="0">
                <a:solidFill>
                  <a:srgbClr val="1F1F1F"/>
                </a:solidFill>
                <a:latin typeface="Calibri"/>
              </a:rPr>
              <a:t>End-to-end integration, out-of-time split, interpretable models, versioned write-back</a:t>
            </a:r>
          </a:p>
        </p:txBody>
      </p:sp>
      <p:sp>
        <p:nvSpPr>
          <p:cNvPr id="20" name="WHAT IS LIMITED"/>
          <p:cNvSpPr/>
          <p:nvPr/>
        </p:nvSpPr>
        <p:spPr>
          <a:xfrm>
            <a:off x="10515600" y="4480560"/>
            <a:ext cx="6400800" cy="155448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457200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spc="200">
                <a:solidFill>
                  <a:srgbClr val="C8102E"/>
                </a:solidFill>
                <a:latin typeface="Calibri"/>
              </a:rPr>
              <a:t>WHAT IS LIMITED</a:t>
            </a:r>
          </a:p>
          <a:p>
            <a:pPr algn="l"/>
            <a:r>
              <a:rPr sz="1700" b="0" i="0">
                <a:solidFill>
                  <a:srgbClr val="1F1F1F"/>
                </a:solidFill>
                <a:latin typeface="Calibri"/>
              </a:rPr>
              <a:t>Data ends 2009, no exposure or revenue, overlapping clusters, 5.11% TEST coverage</a:t>
            </a:r>
          </a:p>
        </p:txBody>
      </p:sp>
      <p:sp>
        <p:nvSpPr>
          <p:cNvPr id="22" name="NEXT"/>
          <p:cNvSpPr/>
          <p:nvPr/>
        </p:nvSpPr>
        <p:spPr>
          <a:xfrm>
            <a:off x="10515600" y="6217920"/>
            <a:ext cx="6400800" cy="1554480"/>
          </a:xfrm>
          <a:prstGeom prst="roundRect">
            <a:avLst>
              <a:gd name="adj" fmla="val 6000"/>
            </a:avLst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6309359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spc="200">
                <a:solidFill>
                  <a:srgbClr val="FFFFFF"/>
                </a:solidFill>
                <a:latin typeface="Calibri"/>
              </a:rPr>
              <a:t>NEXT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Run controlled experiments on qualifying titles; monitor coverage before expanding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3972" y="-2338798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0" y="0"/>
                </a:moveTo>
                <a:lnTo>
                  <a:pt x="20335944" y="0"/>
                </a:lnTo>
                <a:lnTo>
                  <a:pt x="20335944" y="6734996"/>
                </a:lnTo>
                <a:lnTo>
                  <a:pt x="0" y="673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23972" y="5890802"/>
            <a:ext cx="20335943" cy="6734995"/>
          </a:xfrm>
          <a:custGeom>
            <a:avLst/>
            <a:gdLst/>
            <a:ahLst/>
            <a:cxnLst/>
            <a:rect r="r" b="b" t="t" l="l"/>
            <a:pathLst>
              <a:path h="6734995" w="20335943">
                <a:moveTo>
                  <a:pt x="20335944" y="6734996"/>
                </a:moveTo>
                <a:lnTo>
                  <a:pt x="0" y="6734996"/>
                </a:lnTo>
                <a:lnTo>
                  <a:pt x="0" y="0"/>
                </a:lnTo>
                <a:lnTo>
                  <a:pt x="20335944" y="0"/>
                </a:lnTo>
                <a:lnTo>
                  <a:pt x="20335944" y="673499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361114" y="639677"/>
            <a:ext cx="9150104" cy="9007647"/>
            <a:chOff x="0" y="0"/>
            <a:chExt cx="4285187" cy="42184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5187" cy="4218472"/>
            </a:xfrm>
            <a:custGeom>
              <a:avLst/>
              <a:gdLst/>
              <a:ahLst/>
              <a:cxnLst/>
              <a:rect r="r" b="b" t="t" l="l"/>
              <a:pathLst>
                <a:path h="4218472" w="4285187">
                  <a:moveTo>
                    <a:pt x="24537" y="0"/>
                  </a:moveTo>
                  <a:lnTo>
                    <a:pt x="4260650" y="0"/>
                  </a:lnTo>
                  <a:cubicBezTo>
                    <a:pt x="4267158" y="0"/>
                    <a:pt x="4273399" y="2585"/>
                    <a:pt x="4278001" y="7187"/>
                  </a:cubicBezTo>
                  <a:cubicBezTo>
                    <a:pt x="4282602" y="11788"/>
                    <a:pt x="4285187" y="18029"/>
                    <a:pt x="4285187" y="24537"/>
                  </a:cubicBezTo>
                  <a:lnTo>
                    <a:pt x="4285187" y="4193935"/>
                  </a:lnTo>
                  <a:cubicBezTo>
                    <a:pt x="4285187" y="4200442"/>
                    <a:pt x="4282602" y="4206683"/>
                    <a:pt x="4278001" y="4211285"/>
                  </a:cubicBezTo>
                  <a:cubicBezTo>
                    <a:pt x="4273399" y="4215886"/>
                    <a:pt x="4267158" y="4218472"/>
                    <a:pt x="4260650" y="4218472"/>
                  </a:cubicBezTo>
                  <a:lnTo>
                    <a:pt x="24537" y="4218472"/>
                  </a:lnTo>
                  <a:cubicBezTo>
                    <a:pt x="18029" y="4218472"/>
                    <a:pt x="11788" y="4215886"/>
                    <a:pt x="7187" y="4211285"/>
                  </a:cubicBezTo>
                  <a:cubicBezTo>
                    <a:pt x="2585" y="4206683"/>
                    <a:pt x="0" y="4200442"/>
                    <a:pt x="0" y="4193935"/>
                  </a:cubicBezTo>
                  <a:lnTo>
                    <a:pt x="0" y="24537"/>
                  </a:lnTo>
                  <a:cubicBezTo>
                    <a:pt x="0" y="18029"/>
                    <a:pt x="2585" y="11788"/>
                    <a:pt x="7187" y="7187"/>
                  </a:cubicBezTo>
                  <a:cubicBezTo>
                    <a:pt x="11788" y="2585"/>
                    <a:pt x="18029" y="0"/>
                    <a:pt x="2453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4285187" cy="4227997"/>
            </a:xfrm>
            <a:prstGeom prst="rect">
              <a:avLst/>
            </a:prstGeom>
          </p:spPr>
          <p:txBody>
            <a:bodyPr anchor="ctr" rtlCol="false" tIns="28569" lIns="28569" bIns="28569" rIns="28569"/>
            <a:lstStyle/>
            <a:p>
              <a:pPr algn="ctr">
                <a:lnSpc>
                  <a:spcPts val="14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423933" y="-354349"/>
            <a:ext cx="5935897" cy="5386827"/>
          </a:xfrm>
          <a:custGeom>
            <a:avLst/>
            <a:gdLst/>
            <a:ahLst/>
            <a:cxnLst/>
            <a:rect r="r" b="b" t="t" l="l"/>
            <a:pathLst>
              <a:path h="5386827" w="5935897">
                <a:moveTo>
                  <a:pt x="0" y="0"/>
                </a:moveTo>
                <a:lnTo>
                  <a:pt x="5935897" y="0"/>
                </a:lnTo>
                <a:lnTo>
                  <a:pt x="5935897" y="5386827"/>
                </a:lnTo>
                <a:lnTo>
                  <a:pt x="0" y="53868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30194" y="2125209"/>
            <a:ext cx="5822449" cy="4984805"/>
          </a:xfrm>
          <a:custGeom>
            <a:avLst/>
            <a:gdLst/>
            <a:ahLst/>
            <a:cxnLst/>
            <a:rect r="r" b="b" t="t" l="l"/>
            <a:pathLst>
              <a:path h="4984805" w="5822449">
                <a:moveTo>
                  <a:pt x="0" y="0"/>
                </a:moveTo>
                <a:lnTo>
                  <a:pt x="5822449" y="0"/>
                </a:lnTo>
                <a:lnTo>
                  <a:pt x="5822449" y="4984805"/>
                </a:lnTo>
                <a:lnTo>
                  <a:pt x="0" y="49848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8387" y="834188"/>
            <a:ext cx="793480" cy="300975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6133" y="6443059"/>
            <a:ext cx="793480" cy="3009752"/>
          </a:xfrm>
          <a:custGeom>
            <a:avLst/>
            <a:gdLst/>
            <a:ahLst/>
            <a:cxnLst/>
            <a:rect r="r" b="b" t="t" l="l"/>
            <a:pathLst>
              <a:path h="3009752" w="793480">
                <a:moveTo>
                  <a:pt x="0" y="0"/>
                </a:moveTo>
                <a:lnTo>
                  <a:pt x="793480" y="0"/>
                </a:lnTo>
                <a:lnTo>
                  <a:pt x="793480" y="3009753"/>
                </a:lnTo>
                <a:lnTo>
                  <a:pt x="0" y="30097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21352" y="6028654"/>
            <a:ext cx="5613986" cy="3838563"/>
          </a:xfrm>
          <a:custGeom>
            <a:avLst/>
            <a:gdLst/>
            <a:ahLst/>
            <a:cxnLst/>
            <a:rect r="r" b="b" t="t" l="l"/>
            <a:pathLst>
              <a:path h="3838563" w="5613986">
                <a:moveTo>
                  <a:pt x="0" y="0"/>
                </a:moveTo>
                <a:lnTo>
                  <a:pt x="5613986" y="0"/>
                </a:lnTo>
                <a:lnTo>
                  <a:pt x="5613986" y="3838563"/>
                </a:lnTo>
                <a:lnTo>
                  <a:pt x="0" y="3838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5400000">
            <a:off x="17510760" y="6949440"/>
            <a:ext cx="731520" cy="2075688"/>
          </a:xfrm>
          <a:custGeom>
            <a:avLst/>
            <a:gdLst/>
            <a:ahLst/>
            <a:cxnLst/>
            <a:rect r="r" b="b" t="t" l="l"/>
            <a:pathLst>
              <a:path h="2570569" w="906710">
                <a:moveTo>
                  <a:pt x="0" y="2570570"/>
                </a:moveTo>
                <a:lnTo>
                  <a:pt x="906710" y="2570570"/>
                </a:lnTo>
                <a:lnTo>
                  <a:pt x="906710" y="0"/>
                </a:lnTo>
                <a:lnTo>
                  <a:pt x="0" y="0"/>
                </a:lnTo>
                <a:lnTo>
                  <a:pt x="0" y="257057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Kicker"/>
          <p:cNvSpPr txBox="1"/>
          <p:nvPr/>
        </p:nvSpPr>
        <p:spPr>
          <a:xfrm>
            <a:off x="9144000" y="1325880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C8102E"/>
                </a:solidFill>
                <a:latin typeface="Calibri"/>
              </a:rPr>
              <a:t>THANK YOU</a:t>
            </a:r>
          </a:p>
        </p:txBody>
      </p:sp>
      <p:sp>
        <p:nvSpPr>
          <p:cNvPr id="16" name="Title"/>
          <p:cNvSpPr txBox="1"/>
          <p:nvPr/>
        </p:nvSpPr>
        <p:spPr>
          <a:xfrm>
            <a:off x="9144000" y="1783080"/>
            <a:ext cx="7086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860606"/>
                </a:solidFill>
                <a:latin typeface="Impact"/>
              </a:rPr>
              <a:t>QUESTIONS?</a:t>
            </a:r>
          </a:p>
        </p:txBody>
      </p:sp>
      <p:sp>
        <p:nvSpPr>
          <p:cNvPr id="17" name="Chain 1"/>
          <p:cNvSpPr/>
          <p:nvPr/>
        </p:nvSpPr>
        <p:spPr>
          <a:xfrm>
            <a:off x="11064240" y="3291840"/>
            <a:ext cx="5120640" cy="603504"/>
          </a:xfrm>
          <a:prstGeom prst="roundRect">
            <a:avLst>
              <a:gd name="adj" fmla="val 30000"/>
            </a:avLst>
          </a:prstGeom>
          <a:solidFill>
            <a:srgbClr val="8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0" y="3291840"/>
            <a:ext cx="51206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1  ·  Evidence</a:t>
            </a:r>
          </a:p>
        </p:txBody>
      </p:sp>
      <p:sp>
        <p:nvSpPr>
          <p:cNvPr id="19" name="Chain 2"/>
          <p:cNvSpPr/>
          <p:nvPr/>
        </p:nvSpPr>
        <p:spPr>
          <a:xfrm>
            <a:off x="11064240" y="4041648"/>
            <a:ext cx="5120640" cy="603504"/>
          </a:xfrm>
          <a:prstGeom prst="roundRect">
            <a:avLst>
              <a:gd name="adj" fmla="val 30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4041648"/>
            <a:ext cx="51206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60606"/>
                </a:solidFill>
                <a:latin typeface="Calibri"/>
              </a:rPr>
              <a:t>2  ·  Bounded decision</a:t>
            </a:r>
          </a:p>
        </p:txBody>
      </p:sp>
      <p:sp>
        <p:nvSpPr>
          <p:cNvPr id="21" name="Chain 3"/>
          <p:cNvSpPr/>
          <p:nvPr/>
        </p:nvSpPr>
        <p:spPr>
          <a:xfrm>
            <a:off x="11064240" y="4791456"/>
            <a:ext cx="5120640" cy="603504"/>
          </a:xfrm>
          <a:prstGeom prst="roundRect">
            <a:avLst>
              <a:gd name="adj" fmla="val 30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0" y="4791456"/>
            <a:ext cx="51206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60606"/>
                </a:solidFill>
                <a:latin typeface="Calibri"/>
              </a:rPr>
              <a:t>3  ·  Controlled experiment</a:t>
            </a:r>
          </a:p>
        </p:txBody>
      </p:sp>
      <p:sp>
        <p:nvSpPr>
          <p:cNvPr id="23" name="Chain 4"/>
          <p:cNvSpPr/>
          <p:nvPr/>
        </p:nvSpPr>
        <p:spPr>
          <a:xfrm>
            <a:off x="11064240" y="5541264"/>
            <a:ext cx="5120640" cy="603504"/>
          </a:xfrm>
          <a:prstGeom prst="roundRect">
            <a:avLst>
              <a:gd name="adj" fmla="val 30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5541264"/>
            <a:ext cx="51206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860606"/>
                </a:solidFill>
                <a:latin typeface="Calibri"/>
              </a:rPr>
              <a:t>4  · 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46520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C8102E"/>
                </a:solidFill>
                <a:latin typeface="Calibri"/>
              </a:rPr>
              <a:t>Q&amp;A BACKUP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85800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Calibri"/>
              </a:rPr>
              <a:t>Data quality checks · split dates · leakage controls · choice of K · confusion matrix · coverage · support thresholds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DAHZLI7vdcQ</dc:identifier>
  <dcterms:modified xsi:type="dcterms:W3CDTF">2011-08-01T06:04:30Z</dcterms:modified>
  <cp:revision>1</cp:revision>
  <dc:title>Red Black Cinematic Film Thesis Defense Presentation</dc:title>
</cp:coreProperties>
</file>